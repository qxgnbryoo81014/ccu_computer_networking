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A1E45009-2B90-79EF-CBBC-4DCD262EEAAE}">
          <p14:sldIdLst>
            <p14:sldId id="256"/>
            <p14:sldId id="257"/>
          </p14:sldIdLst>
        </p14:section>
        <p14:section name="01 背景" id="{14DF36AF-C220-81DF-B1FF-8214473C4458}">
          <p14:sldIdLst>
            <p14:sldId id="258"/>
            <p14:sldId id="259"/>
            <p14:sldId id="260"/>
          </p14:sldIdLst>
        </p14:section>
        <p14:section name="02 系統架構" id="{89083856-BF5C-2C02-10E0-5FB7CFB34755}">
          <p14:sldIdLst>
            <p14:sldId id="261"/>
            <p14:sldId id="262"/>
            <p14:sldId id="263"/>
          </p14:sldIdLst>
        </p14:section>
        <p14:section name="03 通訊與網路" id="{F8CB6015-D3DA-A5F7-E8A0-F4837119DF17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4 應用與案例" id="{3217B83D-9546-1948-50DB-30A7D668518A}">
          <p14:sldIdLst>
            <p14:sldId id="275"/>
            <p14:sldId id="276"/>
            <p14:sldId id="277"/>
          </p14:sldIdLst>
        </p14:section>
        <p14:section name="05 挑戰與法規" id="{C497361B-E763-10A3-7330-60D530A6D5EE}">
          <p14:sldIdLst>
            <p14:sldId id="278"/>
            <p14:sldId id="279"/>
          </p14:sldIdLst>
        </p14:section>
        <p14:section name="06 結論" id="{FBCADA45-7C61-04EC-5C92-51429E60EEFC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2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2C"/>
                </a:solidFill>
                <a:latin typeface="+mn-lt"/>
              </a:rPr>
              <a:t>自由空間路徑損耗 FSPL（dB）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2.4 GHz</c:v>
                </c:pt>
              </c:strCache>
            </c:strRef>
          </c:tx>
          <c:spPr>
            <a:solidFill>
              <a:srgbClr val="15998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202C"/>
                    </a:solidFill>
                    <a:latin typeface="+mn-lt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km</c:v>
                </c:pt>
                <c:pt idx="1">
                  <c:v>5 km</c:v>
                </c:pt>
                <c:pt idx="2">
                  <c:v>10 km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114</c:v>
                </c:pt>
                <c:pt idx="2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A7-44BA-A282-5F67B4EABA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5.8 GHz</c:v>
                </c:pt>
              </c:strCache>
            </c:strRef>
          </c:tx>
          <c:spPr>
            <a:solidFill>
              <a:srgbClr val="F26A1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202C"/>
                    </a:solidFill>
                    <a:latin typeface="+mn-lt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km</c:v>
                </c:pt>
                <c:pt idx="1">
                  <c:v>5 km</c:v>
                </c:pt>
                <c:pt idx="2">
                  <c:v>10 km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107.7</c:v>
                </c:pt>
                <c:pt idx="1">
                  <c:v>121.7</c:v>
                </c:pt>
                <c:pt idx="2">
                  <c:v>127.7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A7-44BA-A282-5F67B4EABA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"/>
          <c:min val="8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2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2C"/>
                </a:solidFill>
                <a:latin typeface="+mn-lt"/>
              </a:rPr>
              <a:t>配送機最大酬載（lb）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最大酬載（磅）</c:v>
                </c:pt>
              </c:strCache>
            </c:strRef>
          </c:tx>
          <c:spPr>
            <a:solidFill>
              <a:srgbClr val="F26A1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02C"/>
                    </a:solidFill>
                    <a:latin typeface="+mn-lt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Wing</c:v>
                </c:pt>
                <c:pt idx="1">
                  <c:v>Amazon MK30</c:v>
                </c:pt>
                <c:pt idx="2">
                  <c:v>Zipline P2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A8-45EF-902B-1FB2FDC18B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2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2C"/>
                </a:solidFill>
                <a:latin typeface="+mn-lt"/>
              </a:rPr>
              <a:t>台灣無人機產值（新台幣億元）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產值（億元）</c:v>
                </c:pt>
              </c:strCache>
            </c:strRef>
          </c:tx>
          <c:spPr>
            <a:solidFill>
              <a:srgbClr val="1599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02C"/>
                    </a:solidFill>
                    <a:latin typeface="+mn-lt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 目標</c:v>
                </c:pt>
                <c:pt idx="3">
                  <c:v>2030 目標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129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4-45DD-9DC3-C2C0A5BCA9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04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開場（約 30 秒）：大家好，我們這組的題目是無人機。我們把無人機當成一個「會飛的網路節點」，看資料如何從機上的匯流排，經過空中鏈路、行動網路，一路送到雲端；再用 2026 年的實際案例、資安與法規收尾。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大綱（約 30 秒）：共分六個部分。第二、三部分是重點，佔約一半時間：先建立端到端架構，再由應用層一路往下講到無線與行動網路，並實際計算延遲與鏈路預算。第四部分用三個 2025–2026 案例說明，最後談資安與法規。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重點：IoT 的四個要素是感知、連網、運算、行動，無人機剛好四個都有，而且多了「移動性」。另外說明 UAV 與 UAS 的差別：老師若問「無人機系統包含什麼」，答案是飛行器、地面站、通訊鏈路三者，後面通訊章節就是在談第三個元素。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時間軸（約 1 分鐘）：無人機原本是軍事技術，2013 年 Phantom 讓空拍普及，2016 年後各國開始立法。近三年的變化重點有兩個：一是法規從「視距內」走向「超視距 BVLOS」，二是配送真正規模化，Walmart 在 2026 年 5 月宣布累計配送突破一百萬次。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機型分類：多旋翼最常見，但電池限制續航；固定翼航程長但不能懸停；複合翼是兩者折衷，像 Zipline、Wing 的配送機都是這種思路；系留式用纜線供電，可當臨時空中基地台。分類會影響通訊需求：飛得越遠，越需要超視距的蜂巢或衛星鏈路。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端到端架構（約 1.5 分鐘）：分成端系統、存取網路、核心網路三段來看。無人機與機上電腦是端系統；射頻鏈路或行動網路的基地台是存取網路；行動核心網與 ISP 是核心；另一端是雲端伺服器。重點是兩條路徑：視距時是點對點直連，根本不經過網際網路；超視距時資料要走完整條網路，才會出現後面要談的延遲、NAT、換手、資安問題。後面第 03 章就沿著這條路，由上而下逐層說明。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機內網路（約 1.5 分鐘）：一台無人機本身就是一個小型網路。感測器透過 I2C／SPI 接在飛控板上；數傳電台與伴隨電腦多用 UART 序列埠，上面跑 MAVLink；GNSS 與電調越來越多用 CAN 匯流排，開源社群的協定叫 DroneCAN 與 Cyphal；高頻寬的相機與伴隨電腦則用 Ethernet，可以直接跑 IP。CAN 是很好的鏈結層例子：多個節點共用一條匯流排，同時發送時逐位元比較 ID，ID 小的贏，輸的自動退讓，屬於不破壞封包的碰撞解決方式，和乙太網路碰撞後重傳的做法不同。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邊緣運算：算力分三層，越靠近飛機反應越快，越靠近雲端算力越強。關鍵是「斷線時怎麼辦」——飛機上必須保留足夠的自主能力。台灣案例：漢翔 2026 年 5 月與美國 Vantor 發表 AIxVNAV 視覺導航系統，主打沒有 GPS 也能公分級定位，代表感測與 AI 正在取代部分對外部訊號的依賴。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三種鏈路（約 1.5 分鐘）：這是理解無人機通訊的關鍵。C2 鏈路資料量很小，但延遲和可靠度要求最高，斷了就有安全風險；酬載鏈路是影像，頻寬需求最大，偶爾掉幾格畫面可以接受；第三種是給管理者看的識別資訊，也就是 Remote ID，像是天上的車牌。三種需求不同，所以常用不同技術承載，這是下一頁比較表的前提。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協定堆疊（約 2 分鐘，QA 重點）：這頁把無人機用到的協定依網路分層整理，後面幾頁逐層展開。應用層最重要的是 MAVLink，它是開源的二進位協定，封包很小，最大 280 bytes，適合低頻寬鏈路。傳輸層多數即時資料走 UDP，原因下一頁說明。網路層要注意：專有圖傳鏈路不一定走 IP，進到蜂巢網路或雲端才會封裝成 IP。鏈結層則依鏈路不同，Remote ID 廣播就是用藍牙或 Wi-Fi。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應用層（約 1.5 分鐘）：無人機系統同時用到三種應用層模式。請求回應用在 UTM 服務供應商之間交換飛行計畫，標準是 ASTM F3548，用 REST API；發布訂閱用在機隊遙測，MQTT 的三種 QoS 剛好對應「最多一次、至少一次、恰好一次」；串流用在影像。下方是 MAVLink 上傳航點的流程：地面站先告知總筆數，無人機一筆一筆請求，最後回 ACK，中間逾時就重送。因為底層是 UDP 不保證送達，可靠傳輸由應用層自己完成。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 vs UDP（約 1.5 分鐘，最可能被問）：一句話：對控制訊號來說，晚到的資料等於錯的資料。TCP 遇到掉封包會重傳，而且要按順序交付，後面的新指令就被卡住，這叫 head-of-line blocking。UDP 不重傳，最新的位置或指令直接覆蓋舊的。但 UDP 不保證可靠，所以 MAVLink 在應用層自己做序號和心跳，心跳超時就觸發 failsafe，例如原地懸停或自動返航。影像用 RTP over UDP，再加前向錯誤更正 FEC。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延遲與頻寬（約 2 分鐘，QA 重點）：用延遲公式實際算。傳輸延遲是 L 除以 R：一個 50 bytes 的控制封包，在常見的 57.6 kbps 數傳電台上約 6.9 毫秒；一張 1MB 照片用 10 Mbps 上傳要 0.8 秒。傳播延遲是距離除以光速：10 公里視距只有 0.03 毫秒，幾乎可忽略；低軌衛星上下約 3.7 毫秒，實測 RTT 會再加上處理與路由；同步衛星光是傳播就要 0.24 秒，來回 RTT 約半秒以上，所以不適合即時操控。右下：未壓縮的 1080p 影像要 1.49 Gbps，壓縮後只要幾 Mbps，所以影像一定要在機上先壓縮。左下的工程意涵：如果控制與影像共用鏈路，影像流量會讓佇列變長，控制封包就被延遲，因此要做優先權佇列。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網路層（約 1.5 分鐘）：兩個問題。第一，無人機走行動網路時拿到的是私有 IP，電信商再用 CGNAT 讓很多用戶共用一個公網 IP，所以雲端沒辦法主動連到無人機。實務做法是反過來，讓無人機主動向雲端建立長連線，例如 MQTT over TLS，或建立 VPN、使用企業專網。第二，群飛時無人機之間組成 Mesh 網路，拓撲一直在變。兩種路由策略各有取捨：OLSR 是 link-state 的思路，隨時維護整張拓撲；AODV 接近 distance-vector，需要時才找路。前者延遲低但耗頻寬，後者省頻寬但首包延遲高。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鏈結與實體層（約 2 分鐘）：無線鏈路能飛多遠，取決於鏈路預算。自由空間路徑損耗公式中，距離每增加十倍多損失 20 dB；頻率從 2.4 升到 5.8 GHz 會多損失約 7.7 dB，所以 5.8 GHz 頻寬大但距離短，很多圖傳會雙頻自動切換。第二個概念是菲涅耳區：無線電不是一條細線，而是一個橢球體，10 公里時中點半徑將近 18 公尺，所以遙控器貼地或被人體擋住就會掉訊。第三是多重存取：Wi-Fi 用 CSMA/CA，群飛時會遇到隱藏終端問題，可用 RTS/CTS 緩解。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表：重點不是背數字，而是取捨。射頻圖傳延遲最低但要視距；蜂巢網路可以超視距，但基地台天線是為地面設計的；衛星覆蓋最廣但延遲與成本高；光纖完全不怕干擾，代價是機動性。商用配送與巡檢通常採多鏈路備援，主鏈路斷了自動切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蜂巢網路（約 1.5 分鐘）：用手機網路控制無人機可以突破視距，但現有基地台是為地面使用者設計的，天線向下傾斜，所以低空反而有盲區；飛機在空中又會同時看到很多基地台，造成干擾與頻繁換手。3GPP 從 Rel-15 開始研究，到 Rel-17、18 納入無人機識別與航線回報。中國把這件事稱為低空經濟，工信部 2026 年 6 月的白皮書明確採「5G-A＋衛星＋自組網」三層架構；5G-A 的通感一體可以讓基地台兼當雷達，偵測不合作的無人機。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行動性（約 1.5 分鐘）：無人機飛行時會從一個基地台換到下一個，這叫換手。為了讓上層連線不中斷，5G 核心網的 UPF 扮演錨點，換手時 IP 不變，概念和 Mobile IP 的 home agent 一樣。無人機的特殊問題是飛得高、看得廣，同時收到好幾個強度相近的基地台，容易來回換手，也就是乒乓效應。3GPP 的對策包括條件式換手，以及讓無人機回報高度與航線。另外 5G 的網路切片可以讓控制指令和影像走不同切片，分別保證低延遲與高頻寬。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ID 與 UTM：Remote ID 像車牌，解決「是誰在飛」；UTM 像交通管理系統，解決「怎麼一起飛不撞」。有人機有塔台，但數量龐大的無人機不可能靠人工管制，所以由多家服務供應商 USS 自動化處理飛行計畫與衝突，並與主管機關的系統交換資訊。歐盟類似的概念叫 U-space。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案例一（約 1.5 分鐘）：Walmart 本身不養機隊，而是和 Wing、Zipline 合作。2026 年 5 月宣布累計一百萬次配送，其中約四成在單一季完成，代表正在加速。平均 23 分鐘送達。右圖是三家配送機的酬載：Wing 2.5 磅、Amazon MK30 5 磅、Zipline P2 8 磅，大約一到三點六公斤，所以只能送小件商品。IoT 角度：訂單系統、派遣、超視距飛行、絞盤垂降，是完整的物流 IoT 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案例二（約 1.5 分鐘）：台灣的轉折來自地緣政治。美國把 DJI 等外國無人機列入 FCC Covered List，加上俄烏戰爭，各國在找「不含中國零件」的供應鏈。台灣產值從 2024 年 50 億元到 2025 年 129 億元，2026 年目標 200 億、2030 年 400 億。整機外銷 2025 年成長 21 倍，2026 年第一季就超越 2025 全年。工研院也取得美國 Green UAS 認證授權，讓台廠可在台灣做驗證。注意：2026、2030 是政府目標值，不是實際數字。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案例三（約 1.5 分鐘）：這是比較極端但很有啟發性的例子。俄烏戰場上射頻干擾非常普遍，所以出現用光纖導控的無人機，2026 年 8 月烏克蘭首次以統一規格公開採購。我們不討論軍事用途本身，而是把它當作網路設計的案例：有線與無線的取捨——有線可靠、不怕干擾，但犧牲機動性與距離；本質上是鏈結層介質選擇的問題。民用領域的對應則是多鏈路備援與視覺導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資安（約 1.5 分鐘）：沿用網路分層來整理。實體層是干擾與 GNSS 欺騙；鏈結層是未加密鏈路與 Wi-Fi 斷線攻擊；網路層的原則是不要讓控制介面暴露在公網，用 VPN 或專網；傳輸層用 TLS，UDP 的串流則用 DTLS 或 SRTP；應用層的代表問題是 MAVLink 預設不驗證，MAVLink 2 提供以 SHA-256 計算的簽章，加上時間戳防止重放攻擊。最後一列是非技術但同樣重要的系統面議題。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法規（約 1.5 分鐘）：台灣 2020 年起納管，250 公克以上要註冊、2 公斤以上要考證、高度不超過 400 呎。美國最關鍵的是 Part 108：把超視距飛行從個案豁免變成常態授權，目前在白宮審查，尚未正式發布。另一條線是地緣政治：FCC Covered List 讓 DJI 新機無法在美上市，加上關稅，這就是台灣非紅供應鏈的機會。中國則把它定位為低空經濟，由政府與電信商主導基礎建設。法規日期以 2026 年 10 月初為準，報告前可再確認 Part 108 是否已發布。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結論（約 1 分鐘）：回到開頭：無人機是一個完整的分層網路系統，從機內匯流排到雲端，每一層都有自己的設計取捨。技術上，真正的瓶頸已經不是飛行器，而是網路：延遲、鏈路距離、定址與換手，以及空域識別與管理。產業上，地緣政治讓台灣有新的機會。謝謝大家，歡迎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參考資料頁不需要講，報告時停留一兩秒即可。新聞類資料的數字建議在報告前一週再查一次最新狀態，特別是 Part 108 是否已正式發布。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3756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502920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企業資料通訊與網路｜無人機的資料通訊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dar ring 4"/>
          <p:cNvSpPr/>
          <p:nvPr/>
        </p:nvSpPr>
        <p:spPr>
          <a:xfrm>
            <a:off x="7132320" y="1051560"/>
            <a:ext cx="4754880" cy="4754880"/>
          </a:xfrm>
          <a:prstGeom prst="ellipse">
            <a:avLst/>
          </a:prstGeom>
          <a:ln w="12700">
            <a:solidFill>
              <a:srgbClr val="64748B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adar ring 3"/>
          <p:cNvSpPr/>
          <p:nvPr/>
        </p:nvSpPr>
        <p:spPr>
          <a:xfrm>
            <a:off x="7726680" y="1645920"/>
            <a:ext cx="3566160" cy="3566160"/>
          </a:xfrm>
          <a:prstGeom prst="ellipse">
            <a:avLst/>
          </a:prstGeom>
          <a:ln w="12700">
            <a:solidFill>
              <a:srgbClr val="64748B">
                <a:alpha val="56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adar ring 2"/>
          <p:cNvSpPr/>
          <p:nvPr/>
        </p:nvSpPr>
        <p:spPr>
          <a:xfrm>
            <a:off x="8321040" y="2240280"/>
            <a:ext cx="2377440" cy="2377440"/>
          </a:xfrm>
          <a:prstGeom prst="ellipse">
            <a:avLst/>
          </a:prstGeom>
          <a:ln w="12700">
            <a:solidFill>
              <a:srgbClr val="64748B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adar ring 1"/>
          <p:cNvSpPr/>
          <p:nvPr/>
        </p:nvSpPr>
        <p:spPr>
          <a:xfrm>
            <a:off x="8915400" y="2834640"/>
            <a:ext cx="1188720" cy="1188720"/>
          </a:xfrm>
          <a:prstGeom prst="ellipse">
            <a:avLst/>
          </a:prstGeom>
          <a:ln w="12700">
            <a:solidFill>
              <a:srgbClr val="64748B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ver drone circle"/>
          <p:cNvSpPr/>
          <p:nvPr/>
        </p:nvSpPr>
        <p:spPr>
          <a:xfrm>
            <a:off x="8641080" y="25603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cover drone icon" descr="TbDr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299" y="2942539"/>
            <a:ext cx="972922" cy="972922"/>
          </a:xfrm>
          <a:prstGeom prst="rect">
            <a:avLst/>
          </a:prstGeom>
        </p:spPr>
      </p:pic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無人機 × 資料通訊</a:t>
            </a:r>
            <a:endParaRPr lang="en-US" sz="5000" dirty="0"/>
          </a:p>
        </p:txBody>
      </p:sp>
      <p:sp>
        <p:nvSpPr>
          <p:cNvPr id="9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37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從機上匯流排、空中鏈路到低空網路架構</a:t>
            </a:r>
            <a:endParaRPr lang="en-US" sz="2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AGENDA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報告大綱</a:t>
            </a:r>
            <a:endParaRPr lang="en-US" sz="3400" dirty="0"/>
          </a:p>
        </p:txBody>
      </p:sp>
      <p:sp>
        <p:nvSpPr>
          <p:cNvPr id="4" name="agenda card 01"/>
          <p:cNvSpPr/>
          <p:nvPr/>
        </p:nvSpPr>
        <p:spPr>
          <a:xfrm>
            <a:off x="548640" y="1691640"/>
            <a:ext cx="35112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200" b="1" dirty="0">
                <a:solidFill>
                  <a:schemeClr val="accent1"/>
                </a:solidFill>
              </a:rPr>
              <a:t>01</a:t>
            </a:r>
            <a:endParaRPr lang="zh-TW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877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背景</a:t>
            </a:r>
            <a:endParaRPr lang="zh-TW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無人機為何是網路節點、發展歷程、機型分類</a:t>
            </a:r>
            <a:endParaRPr lang="zh-TW" sz="1400" dirty="0"/>
          </a:p>
        </p:txBody>
      </p:sp>
      <p:sp>
        <p:nvSpPr>
          <p:cNvPr id="8" name="agenda card 02"/>
          <p:cNvSpPr/>
          <p:nvPr/>
        </p:nvSpPr>
        <p:spPr>
          <a:xfrm>
            <a:off x="4325112" y="1691640"/>
            <a:ext cx="35112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99432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200" b="1" dirty="0">
                <a:solidFill>
                  <a:schemeClr val="accent1"/>
                </a:solidFill>
              </a:rPr>
              <a:t>02</a:t>
            </a:r>
            <a:endParaRPr lang="zh-TW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5877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系統架構</a:t>
            </a:r>
            <a:endParaRPr lang="zh-TW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0632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端到端網路架構、機內匯流排、邊緣運算</a:t>
            </a:r>
            <a:endParaRPr lang="zh-TW" sz="1400" dirty="0"/>
          </a:p>
        </p:txBody>
      </p:sp>
      <p:sp>
        <p:nvSpPr>
          <p:cNvPr id="12" name="agenda card 03"/>
          <p:cNvSpPr/>
          <p:nvPr/>
        </p:nvSpPr>
        <p:spPr>
          <a:xfrm>
            <a:off x="8101584" y="1691640"/>
            <a:ext cx="35112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8375904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200" b="1" dirty="0">
                <a:solidFill>
                  <a:schemeClr val="accent1"/>
                </a:solidFill>
              </a:rPr>
              <a:t>03</a:t>
            </a:r>
            <a:endParaRPr lang="zh-TW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5877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通訊與網路</a:t>
            </a:r>
            <a:endParaRPr lang="zh-TW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06324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應用、傳輸、網路、鏈結層與行動性管理</a:t>
            </a:r>
            <a:endParaRPr lang="zh-TW" sz="1400" dirty="0"/>
          </a:p>
        </p:txBody>
      </p:sp>
      <p:sp>
        <p:nvSpPr>
          <p:cNvPr id="16" name="agenda card 04"/>
          <p:cNvSpPr/>
          <p:nvPr/>
        </p:nvSpPr>
        <p:spPr>
          <a:xfrm>
            <a:off x="548640" y="4160520"/>
            <a:ext cx="35112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389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200" b="1" dirty="0">
                <a:solidFill>
                  <a:schemeClr val="accent1"/>
                </a:solidFill>
              </a:rPr>
              <a:t>04</a:t>
            </a:r>
            <a:endParaRPr lang="zh-TW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566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應用與案例</a:t>
            </a:r>
            <a:endParaRPr lang="zh-TW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3212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Walmart 配送、台灣產業、電子戰下的鏈路</a:t>
            </a:r>
            <a:endParaRPr lang="zh-TW" sz="1400" dirty="0"/>
          </a:p>
        </p:txBody>
      </p:sp>
      <p:sp>
        <p:nvSpPr>
          <p:cNvPr id="20" name="agenda card 05"/>
          <p:cNvSpPr/>
          <p:nvPr/>
        </p:nvSpPr>
        <p:spPr>
          <a:xfrm>
            <a:off x="4325112" y="4160520"/>
            <a:ext cx="35112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4599432" y="4389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200" b="1" dirty="0">
                <a:solidFill>
                  <a:schemeClr val="accent1"/>
                </a:solidFill>
              </a:rPr>
              <a:t>05</a:t>
            </a:r>
            <a:endParaRPr lang="zh-TW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50566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挑戰與法規</a:t>
            </a:r>
            <a:endParaRPr lang="zh-TW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553212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分層資安對策、台美中法規與地緣政治</a:t>
            </a:r>
            <a:endParaRPr lang="zh-TW" sz="1400" dirty="0"/>
          </a:p>
        </p:txBody>
      </p:sp>
      <p:sp>
        <p:nvSpPr>
          <p:cNvPr id="24" name="agenda card 06"/>
          <p:cNvSpPr/>
          <p:nvPr/>
        </p:nvSpPr>
        <p:spPr>
          <a:xfrm>
            <a:off x="8101584" y="4160520"/>
            <a:ext cx="35112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375904" y="4389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200" b="1" dirty="0">
                <a:solidFill>
                  <a:schemeClr val="accent1"/>
                </a:solidFill>
              </a:rPr>
              <a:t>06</a:t>
            </a:r>
            <a:endParaRPr lang="zh-TW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505663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結論</a:t>
            </a:r>
            <a:endParaRPr lang="zh-TW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553212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重點回顧與 Q&amp;A</a:t>
            </a:r>
            <a:endParaRPr lang="zh-TW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　背景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無人機：會飛的網路節點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200" i="1" dirty="0">
                <a:solidFill>
                  <a:schemeClr val="tx2"/>
                </a:solidFill>
              </a:rPr>
              <a:t>傳統 IoT 把感測器固定在現場；無人機讓感測器自己飛到需要的地方。</a:t>
            </a:r>
            <a:endParaRPr lang="zh-TW" sz="2200" dirty="0"/>
          </a:p>
        </p:txBody>
      </p:sp>
      <p:sp>
        <p:nvSpPr>
          <p:cNvPr id="5" name="TbEye circle"/>
          <p:cNvSpPr/>
          <p:nvPr/>
        </p:nvSpPr>
        <p:spPr>
          <a:xfrm>
            <a:off x="548640" y="2514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TbEye icon" descr="Tb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15768"/>
            <a:ext cx="512064" cy="512064"/>
          </a:xfrm>
          <a:prstGeom prst="rect">
            <a:avLst/>
          </a:prstGeom>
        </p:spPr>
      </p:pic>
      <p:sp>
        <p:nvSpPr>
          <p:cNvPr id="7" name="step arrow 0"/>
          <p:cNvSpPr/>
          <p:nvPr/>
        </p:nvSpPr>
        <p:spPr>
          <a:xfrm>
            <a:off x="1600200" y="2971800"/>
            <a:ext cx="1691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感知 Sense</a:t>
            </a:r>
            <a:endParaRPr lang="zh-TW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69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相機、熱像、光達、GNSS 等感測器即時收集環境資料</a:t>
            </a:r>
            <a:endParaRPr lang="zh-TW" sz="1400" dirty="0"/>
          </a:p>
        </p:txBody>
      </p:sp>
      <p:sp>
        <p:nvSpPr>
          <p:cNvPr id="10" name="TbWifi circle"/>
          <p:cNvSpPr/>
          <p:nvPr/>
        </p:nvSpPr>
        <p:spPr>
          <a:xfrm>
            <a:off x="3410712" y="2514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TbWifi icon" descr="TbWif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715768"/>
            <a:ext cx="512064" cy="512064"/>
          </a:xfrm>
          <a:prstGeom prst="rect">
            <a:avLst/>
          </a:prstGeom>
        </p:spPr>
      </p:pic>
      <p:sp>
        <p:nvSpPr>
          <p:cNvPr id="12" name="step arrow 1"/>
          <p:cNvSpPr/>
          <p:nvPr/>
        </p:nvSpPr>
        <p:spPr>
          <a:xfrm>
            <a:off x="4462272" y="2971800"/>
            <a:ext cx="1691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 txBox="1"/>
          <p:nvPr/>
        </p:nvSpPr>
        <p:spPr>
          <a:xfrm>
            <a:off x="3410712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連網 Connect</a:t>
            </a:r>
            <a:endParaRPr lang="zh-TW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4069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透過射頻、蜂巢網路或衛星，把資料與指令雙向傳送</a:t>
            </a:r>
            <a:endParaRPr lang="zh-TW" sz="1400" dirty="0"/>
          </a:p>
        </p:txBody>
      </p:sp>
      <p:sp>
        <p:nvSpPr>
          <p:cNvPr id="15" name="TbCpu circle"/>
          <p:cNvSpPr/>
          <p:nvPr/>
        </p:nvSpPr>
        <p:spPr>
          <a:xfrm>
            <a:off x="6272784" y="2514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TbCpu icon" descr="TbCp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715768"/>
            <a:ext cx="512064" cy="512064"/>
          </a:xfrm>
          <a:prstGeom prst="rect">
            <a:avLst/>
          </a:prstGeom>
        </p:spPr>
      </p:pic>
      <p:sp>
        <p:nvSpPr>
          <p:cNvPr id="17" name="step arrow 2"/>
          <p:cNvSpPr/>
          <p:nvPr/>
        </p:nvSpPr>
        <p:spPr>
          <a:xfrm>
            <a:off x="7324344" y="2971800"/>
            <a:ext cx="1691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3"/>
          <p:cNvSpPr txBox="1"/>
          <p:nvPr/>
        </p:nvSpPr>
        <p:spPr>
          <a:xfrm>
            <a:off x="6272784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運算 Compute</a:t>
            </a:r>
            <a:endParaRPr lang="zh-TW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272784" y="4069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機上邊緣 AI 即時判斷，雲端負責彙整分析</a:t>
            </a:r>
            <a:endParaRPr lang="zh-TW" sz="1400" dirty="0"/>
          </a:p>
        </p:txBody>
      </p:sp>
      <p:sp>
        <p:nvSpPr>
          <p:cNvPr id="20" name="TbRoute circle"/>
          <p:cNvSpPr/>
          <p:nvPr/>
        </p:nvSpPr>
        <p:spPr>
          <a:xfrm>
            <a:off x="9134856" y="2514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TbRoute icon" descr="TbRou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271576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4856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行動 Act</a:t>
            </a:r>
            <a:endParaRPr lang="zh-TW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134856" y="40690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自主飛行、避障、投遞或噴灑，回饋到真實世界</a:t>
            </a:r>
            <a:endParaRPr lang="zh-TW" sz="1400" dirty="0"/>
          </a:p>
        </p:txBody>
      </p:sp>
      <p:sp>
        <p:nvSpPr>
          <p:cNvPr id="24" name="definition box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19"/>
          <p:cNvSpPr txBox="1"/>
          <p:nvPr/>
        </p:nvSpPr>
        <p:spPr>
          <a:xfrm>
            <a:off x="777240" y="5303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名詞釐清　</a:t>
            </a:r>
            <a:r>
              <a:rPr lang="zh-TW" altLang="en-US" sz="1500" dirty="0">
                <a:solidFill>
                  <a:schemeClr val="tx1"/>
                </a:solidFill>
              </a:rPr>
              <a:t>UAV（Unmanned Aerial Vehicle）指飛行器本身；UAS（Unmanned Aircraft System）＝ 飛行器 ＋ 地面控制站 ＋ 通訊鏈路。本報告採用 UAS 的系統觀點。</a:t>
            </a:r>
            <a:endParaRPr lang="zh-TW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　背景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發展歷程：從軍用到日常配送</a:t>
            </a:r>
            <a:endParaRPr lang="en-US" sz="3400" dirty="0"/>
          </a:p>
        </p:txBody>
      </p:sp>
      <p:sp>
        <p:nvSpPr>
          <p:cNvPr id="4" name="timeline axis"/>
          <p:cNvSpPr/>
          <p:nvPr/>
        </p:nvSpPr>
        <p:spPr>
          <a:xfrm>
            <a:off x="731520" y="3840480"/>
            <a:ext cx="1074420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ick 1990s"/>
          <p:cNvSpPr/>
          <p:nvPr/>
        </p:nvSpPr>
        <p:spPr>
          <a:xfrm>
            <a:off x="1554480" y="324612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node 1990s"/>
          <p:cNvSpPr/>
          <p:nvPr/>
        </p:nvSpPr>
        <p:spPr>
          <a:xfrm>
            <a:off x="141732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1990s</a:t>
            </a:r>
            <a:endParaRPr lang="zh-TW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219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軍用偵察無人機成熟，如 MQ-1 Predator</a:t>
            </a:r>
            <a:endParaRPr lang="zh-TW" sz="1400" dirty="0"/>
          </a:p>
        </p:txBody>
      </p:sp>
      <p:sp>
        <p:nvSpPr>
          <p:cNvPr id="9" name="tick 2006"/>
          <p:cNvSpPr/>
          <p:nvPr/>
        </p:nvSpPr>
        <p:spPr>
          <a:xfrm>
            <a:off x="2686050" y="384048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node 2006"/>
          <p:cNvSpPr/>
          <p:nvPr/>
        </p:nvSpPr>
        <p:spPr>
          <a:xfrm>
            <a:off x="254889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163449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2006</a:t>
            </a:r>
            <a:endParaRPr lang="zh-TW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34490" y="491947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DJI 大疆創立，後來成為消費級龍頭</a:t>
            </a:r>
            <a:endParaRPr lang="zh-TW" sz="1400" dirty="0"/>
          </a:p>
        </p:txBody>
      </p:sp>
      <p:sp>
        <p:nvSpPr>
          <p:cNvPr id="13" name="tick 2013"/>
          <p:cNvSpPr/>
          <p:nvPr/>
        </p:nvSpPr>
        <p:spPr>
          <a:xfrm>
            <a:off x="3817620" y="324612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node 2013"/>
          <p:cNvSpPr/>
          <p:nvPr/>
        </p:nvSpPr>
        <p:spPr>
          <a:xfrm>
            <a:off x="368046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27660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2013</a:t>
            </a:r>
            <a:endParaRPr lang="zh-TW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766060" y="22219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Phantom 系列推出，空拍大眾化</a:t>
            </a:r>
            <a:endParaRPr lang="zh-TW" sz="1400" dirty="0"/>
          </a:p>
        </p:txBody>
      </p:sp>
      <p:sp>
        <p:nvSpPr>
          <p:cNvPr id="17" name="tick 2016"/>
          <p:cNvSpPr/>
          <p:nvPr/>
        </p:nvSpPr>
        <p:spPr>
          <a:xfrm>
            <a:off x="4949190" y="384048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node 2016"/>
          <p:cNvSpPr/>
          <p:nvPr/>
        </p:nvSpPr>
        <p:spPr>
          <a:xfrm>
            <a:off x="481203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389763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2016</a:t>
            </a:r>
            <a:endParaRPr lang="zh-TW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897630" y="491947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美國 FAA Part 107 小型商用無人機規則</a:t>
            </a:r>
            <a:endParaRPr lang="zh-TW" sz="1400" dirty="0"/>
          </a:p>
        </p:txBody>
      </p:sp>
      <p:sp>
        <p:nvSpPr>
          <p:cNvPr id="21" name="tick 2019"/>
          <p:cNvSpPr/>
          <p:nvPr/>
        </p:nvSpPr>
        <p:spPr>
          <a:xfrm>
            <a:off x="6080760" y="324612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node 2019"/>
          <p:cNvSpPr/>
          <p:nvPr/>
        </p:nvSpPr>
        <p:spPr>
          <a:xfrm>
            <a:off x="594360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502920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2019</a:t>
            </a:r>
            <a:endParaRPr lang="zh-TW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2219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Wing 取得美國首張無人機航空業者認證</a:t>
            </a:r>
            <a:endParaRPr lang="zh-TW" sz="1400" dirty="0"/>
          </a:p>
        </p:txBody>
      </p:sp>
      <p:sp>
        <p:nvSpPr>
          <p:cNvPr id="25" name="tick 2020"/>
          <p:cNvSpPr/>
          <p:nvPr/>
        </p:nvSpPr>
        <p:spPr>
          <a:xfrm>
            <a:off x="7212330" y="384048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node 2020"/>
          <p:cNvSpPr/>
          <p:nvPr/>
        </p:nvSpPr>
        <p:spPr>
          <a:xfrm>
            <a:off x="707517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16077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2020</a:t>
            </a:r>
            <a:endParaRPr lang="zh-TW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160770" y="491947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台灣民航法「遙控無人機」專章施行</a:t>
            </a:r>
            <a:endParaRPr lang="zh-TW" sz="1400" dirty="0"/>
          </a:p>
        </p:txBody>
      </p:sp>
      <p:sp>
        <p:nvSpPr>
          <p:cNvPr id="29" name="tick 2023"/>
          <p:cNvSpPr/>
          <p:nvPr/>
        </p:nvSpPr>
        <p:spPr>
          <a:xfrm>
            <a:off x="8343900" y="324612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node 2023"/>
          <p:cNvSpPr/>
          <p:nvPr/>
        </p:nvSpPr>
        <p:spPr>
          <a:xfrm>
            <a:off x="820674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729234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2023</a:t>
            </a:r>
            <a:endParaRPr lang="zh-TW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92340" y="22219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美國 Remote ID（遠端識別）規定生效</a:t>
            </a:r>
            <a:endParaRPr lang="zh-TW" sz="1400" dirty="0"/>
          </a:p>
        </p:txBody>
      </p:sp>
      <p:sp>
        <p:nvSpPr>
          <p:cNvPr id="33" name="tick 2025"/>
          <p:cNvSpPr/>
          <p:nvPr/>
        </p:nvSpPr>
        <p:spPr>
          <a:xfrm>
            <a:off x="9475470" y="384048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node 2025"/>
          <p:cNvSpPr/>
          <p:nvPr/>
        </p:nvSpPr>
        <p:spPr>
          <a:xfrm>
            <a:off x="9338310" y="3703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842391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2025</a:t>
            </a:r>
            <a:endParaRPr lang="zh-TW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423910" y="491947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FAA 提出 Part 108 BVLOS 草案；外國無人機列入 FCC Covered List</a:t>
            </a:r>
            <a:endParaRPr lang="zh-TW" sz="1400" dirty="0"/>
          </a:p>
        </p:txBody>
      </p:sp>
      <p:sp>
        <p:nvSpPr>
          <p:cNvPr id="37" name="tick 2026"/>
          <p:cNvSpPr/>
          <p:nvPr/>
        </p:nvSpPr>
        <p:spPr>
          <a:xfrm>
            <a:off x="10607040" y="3246120"/>
            <a:ext cx="0" cy="594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node 2026"/>
          <p:cNvSpPr/>
          <p:nvPr/>
        </p:nvSpPr>
        <p:spPr>
          <a:xfrm>
            <a:off x="10469880" y="37033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955548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2026</a:t>
            </a:r>
            <a:endParaRPr lang="zh-TW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9555480" y="22219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Walmart 無人機配送累計突破 100 萬次</a:t>
            </a:r>
            <a:endParaRPr lang="zh-TW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　背景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主要機型與適用情境</a:t>
            </a:r>
            <a:endParaRPr lang="en-US" sz="3400" dirty="0"/>
          </a:p>
        </p:txBody>
      </p:sp>
      <p:sp>
        <p:nvSpPr>
          <p:cNvPr id="4" name="type card 多旋翼"/>
          <p:cNvSpPr/>
          <p:nvPr/>
        </p:nvSpPr>
        <p:spPr>
          <a:xfrm>
            <a:off x="548640" y="1645920"/>
            <a:ext cx="2615184" cy="4526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ype 多旋翼 circle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type 多旋翼 icon" descr="TbDr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354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0195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多旋翼</a:t>
            </a:r>
            <a:endParaRPr lang="zh-TW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860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Multirotor</a:t>
            </a:r>
            <a:endParaRPr lang="zh-TW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原理</a:t>
            </a:r>
            <a:endParaRPr lang="zh-TW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175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多組旋翼以轉速差控制姿態</a:t>
            </a:r>
            <a:endParaRPr lang="zh-TW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59359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優點</a:t>
            </a:r>
            <a:endParaRPr lang="zh-TW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6791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可懸停、垂直起降、易操作</a:t>
            </a:r>
            <a:endParaRPr lang="zh-TW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4439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限制</a:t>
            </a:r>
            <a:endParaRPr lang="zh-TW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71830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續航短（多在 20–45 分鐘）、酬載小</a:t>
            </a:r>
            <a:endParaRPr lang="zh-TW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294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應用</a:t>
            </a:r>
            <a:endParaRPr lang="zh-TW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56869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空拍、巡檢、短程配送</a:t>
            </a:r>
            <a:endParaRPr lang="zh-TW" sz="1400" dirty="0"/>
          </a:p>
        </p:txBody>
      </p:sp>
      <p:sp>
        <p:nvSpPr>
          <p:cNvPr id="17" name="type card 固定翼"/>
          <p:cNvSpPr/>
          <p:nvPr/>
        </p:nvSpPr>
        <p:spPr>
          <a:xfrm>
            <a:off x="3364992" y="1645920"/>
            <a:ext cx="2615184" cy="4526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ype 固定翼 circle"/>
          <p:cNvSpPr/>
          <p:nvPr/>
        </p:nvSpPr>
        <p:spPr>
          <a:xfrm>
            <a:off x="3593592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type 固定翼 icon" descr="TbPlaneTi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526" y="2035454"/>
            <a:ext cx="409651" cy="40965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462272" y="190195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固定翼</a:t>
            </a:r>
            <a:endParaRPr lang="zh-TW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4462272" y="22860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Fixed-wing</a:t>
            </a:r>
            <a:endParaRPr lang="zh-TW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593592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原理</a:t>
            </a:r>
            <a:endParaRPr lang="zh-TW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3593592" y="30175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機翼產生升力，類似小飛機</a:t>
            </a:r>
            <a:endParaRPr lang="zh-TW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3593592" y="359359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優點</a:t>
            </a:r>
            <a:endParaRPr lang="zh-TW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593592" y="386791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航程長、效率高、速度快</a:t>
            </a:r>
            <a:endParaRPr lang="zh-TW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3593592" y="44439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限制</a:t>
            </a:r>
            <a:endParaRPr lang="zh-TW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593592" y="471830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需跑道或彈射，無法懸停</a:t>
            </a:r>
            <a:endParaRPr lang="zh-TW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3593592" y="5294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應用</a:t>
            </a:r>
            <a:endParaRPr lang="zh-TW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3593592" y="556869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大面積測繪、長程監測</a:t>
            </a:r>
            <a:endParaRPr lang="zh-TW" sz="1400" dirty="0"/>
          </a:p>
        </p:txBody>
      </p:sp>
      <p:sp>
        <p:nvSpPr>
          <p:cNvPr id="30" name="type card 複合翼"/>
          <p:cNvSpPr/>
          <p:nvPr/>
        </p:nvSpPr>
        <p:spPr>
          <a:xfrm>
            <a:off x="6181344" y="1645920"/>
            <a:ext cx="2615184" cy="4526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ype 複合翼 circle"/>
          <p:cNvSpPr/>
          <p:nvPr/>
        </p:nvSpPr>
        <p:spPr>
          <a:xfrm>
            <a:off x="6409944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2" name="type 複合翼 icon" descr="TbPlaneTi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878" y="2035454"/>
            <a:ext cx="409651" cy="409651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278624" y="190195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複合翼</a:t>
            </a:r>
            <a:endParaRPr lang="zh-TW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7278624" y="22860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VTOL Hybrid</a:t>
            </a:r>
            <a:endParaRPr lang="zh-TW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6409944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原理</a:t>
            </a:r>
            <a:endParaRPr lang="zh-TW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6409944" y="30175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旋翼垂直起降後轉為平飛</a:t>
            </a:r>
            <a:endParaRPr lang="zh-TW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409944" y="359359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優點</a:t>
            </a:r>
            <a:endParaRPr lang="zh-TW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6409944" y="386791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免跑道又兼顧長航程</a:t>
            </a:r>
            <a:endParaRPr lang="zh-TW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409944" y="44439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限制</a:t>
            </a:r>
            <a:endParaRPr lang="zh-TW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6409944" y="471830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結構複雜、成本較高</a:t>
            </a:r>
            <a:endParaRPr lang="zh-TW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6409944" y="5294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應用</a:t>
            </a:r>
            <a:endParaRPr lang="zh-TW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6409944" y="556869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物流配送、長距離巡線</a:t>
            </a:r>
            <a:endParaRPr lang="zh-TW" sz="1400" dirty="0"/>
          </a:p>
        </p:txBody>
      </p:sp>
      <p:sp>
        <p:nvSpPr>
          <p:cNvPr id="43" name="type card 系留式"/>
          <p:cNvSpPr/>
          <p:nvPr/>
        </p:nvSpPr>
        <p:spPr>
          <a:xfrm>
            <a:off x="8997696" y="1645920"/>
            <a:ext cx="2615184" cy="4526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ype 系留式 circle"/>
          <p:cNvSpPr/>
          <p:nvPr/>
        </p:nvSpPr>
        <p:spPr>
          <a:xfrm>
            <a:off x="9226296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5" name="type 系留式 icon" descr="TbAntenn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230" y="2035454"/>
            <a:ext cx="409651" cy="409651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10094976" y="190195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系留式</a:t>
            </a:r>
            <a:endParaRPr lang="zh-TW" sz="2000" dirty="0"/>
          </a:p>
        </p:txBody>
      </p:sp>
      <p:sp>
        <p:nvSpPr>
          <p:cNvPr id="47" name="Text 41"/>
          <p:cNvSpPr txBox="1"/>
          <p:nvPr/>
        </p:nvSpPr>
        <p:spPr>
          <a:xfrm>
            <a:off x="10094976" y="22860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Tethered</a:t>
            </a:r>
            <a:endParaRPr lang="zh-TW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9226296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原理</a:t>
            </a:r>
            <a:endParaRPr lang="zh-TW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9226296" y="30175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以纜線供電並傳輸資料</a:t>
            </a:r>
            <a:endParaRPr lang="zh-TW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9226296" y="359359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優點</a:t>
            </a:r>
            <a:endParaRPr lang="zh-TW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9226296" y="386791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可長時間滯空、鏈路穩定</a:t>
            </a:r>
            <a:endParaRPr lang="zh-TW" sz="1400" dirty="0"/>
          </a:p>
        </p:txBody>
      </p:sp>
      <p:sp>
        <p:nvSpPr>
          <p:cNvPr id="52" name="Text 46"/>
          <p:cNvSpPr txBox="1"/>
          <p:nvPr/>
        </p:nvSpPr>
        <p:spPr>
          <a:xfrm>
            <a:off x="9226296" y="44439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限制</a:t>
            </a:r>
            <a:endParaRPr lang="zh-TW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9226296" y="471830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活動範圍受線長限制</a:t>
            </a:r>
            <a:endParaRPr lang="zh-TW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9226296" y="5294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應用</a:t>
            </a:r>
            <a:endParaRPr lang="zh-TW" sz="1200" dirty="0"/>
          </a:p>
        </p:txBody>
      </p:sp>
      <p:sp>
        <p:nvSpPr>
          <p:cNvPr id="55" name="Text 49"/>
          <p:cNvSpPr txBox="1"/>
          <p:nvPr/>
        </p:nvSpPr>
        <p:spPr>
          <a:xfrm>
            <a:off x="9226296" y="556869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臨時基地台、活動監控</a:t>
            </a:r>
            <a:endParaRPr lang="zh-TW" sz="14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　系統架構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端到端網路架構：從機上到雲端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Network Edge（端系統）</a:t>
            </a:r>
            <a:endParaRPr lang="zh-TW" sz="1100" dirty="0"/>
          </a:p>
        </p:txBody>
      </p:sp>
      <p:sp>
        <p:nvSpPr>
          <p:cNvPr id="5" name="zone 機上網路"/>
          <p:cNvSpPr/>
          <p:nvPr/>
        </p:nvSpPr>
        <p:spPr>
          <a:xfrm>
            <a:off x="548640" y="2011680"/>
            <a:ext cx="2011680" cy="2240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zone 機上網路 circle"/>
          <p:cNvSpPr/>
          <p:nvPr/>
        </p:nvSpPr>
        <p:spPr>
          <a:xfrm>
            <a:off x="1188720" y="2212848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zone 機上網路 icon" descr="TbDr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54" y="2373782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機上網路</a:t>
            </a:r>
            <a:endParaRPr lang="zh-TW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56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飛控、感測器、伴隨電腦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UART／CAN／Ethernet</a:t>
            </a:r>
            <a:endParaRPr lang="zh-TW" sz="1300" dirty="0"/>
          </a:p>
        </p:txBody>
      </p:sp>
      <p:sp>
        <p:nvSpPr>
          <p:cNvPr id="10" name="zone arrow 0"/>
          <p:cNvSpPr/>
          <p:nvPr/>
        </p:nvSpPr>
        <p:spPr>
          <a:xfrm>
            <a:off x="2587752" y="3131820"/>
            <a:ext cx="1965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281178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Access Network</a:t>
            </a:r>
            <a:endParaRPr lang="zh-TW" sz="1100" dirty="0"/>
          </a:p>
        </p:txBody>
      </p:sp>
      <p:sp>
        <p:nvSpPr>
          <p:cNvPr id="12" name="zone 存取網路"/>
          <p:cNvSpPr/>
          <p:nvPr/>
        </p:nvSpPr>
        <p:spPr>
          <a:xfrm>
            <a:off x="2811780" y="2011680"/>
            <a:ext cx="2011680" cy="2240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zone 存取網路 circle"/>
          <p:cNvSpPr/>
          <p:nvPr/>
        </p:nvSpPr>
        <p:spPr>
          <a:xfrm>
            <a:off x="3451860" y="221284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zone 存取網路 icon" descr="TbAntenn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794" y="2373782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1178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存取網路</a:t>
            </a:r>
            <a:endParaRPr lang="zh-TW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03220" y="3456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視距：射頻點對點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超視距：4G／5G、衛星</a:t>
            </a:r>
            <a:endParaRPr lang="zh-TW" sz="1300" dirty="0"/>
          </a:p>
        </p:txBody>
      </p:sp>
      <p:sp>
        <p:nvSpPr>
          <p:cNvPr id="17" name="zone arrow 1"/>
          <p:cNvSpPr/>
          <p:nvPr/>
        </p:nvSpPr>
        <p:spPr>
          <a:xfrm>
            <a:off x="4850892" y="3131820"/>
            <a:ext cx="1965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 txBox="1"/>
          <p:nvPr/>
        </p:nvSpPr>
        <p:spPr>
          <a:xfrm>
            <a:off x="507492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Network Core</a:t>
            </a:r>
            <a:endParaRPr lang="zh-TW" sz="1100" dirty="0"/>
          </a:p>
        </p:txBody>
      </p:sp>
      <p:sp>
        <p:nvSpPr>
          <p:cNvPr id="19" name="zone 核心網路"/>
          <p:cNvSpPr/>
          <p:nvPr/>
        </p:nvSpPr>
        <p:spPr>
          <a:xfrm>
            <a:off x="5074920" y="2011680"/>
            <a:ext cx="2011680" cy="2240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zone 核心網路 circle"/>
          <p:cNvSpPr/>
          <p:nvPr/>
        </p:nvSpPr>
        <p:spPr>
          <a:xfrm>
            <a:off x="5715000" y="221284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zone 核心網路 icon" descr="TbNet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934" y="2373782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07492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核心網路</a:t>
            </a:r>
            <a:endParaRPr lang="zh-TW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166360" y="3456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5G 核心網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ISP、衛星地面站</a:t>
            </a:r>
            <a:endParaRPr lang="zh-TW" sz="1300" dirty="0"/>
          </a:p>
        </p:txBody>
      </p:sp>
      <p:sp>
        <p:nvSpPr>
          <p:cNvPr id="24" name="zone arrow 2"/>
          <p:cNvSpPr/>
          <p:nvPr/>
        </p:nvSpPr>
        <p:spPr>
          <a:xfrm>
            <a:off x="7114032" y="3131820"/>
            <a:ext cx="1965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 txBox="1"/>
          <p:nvPr/>
        </p:nvSpPr>
        <p:spPr>
          <a:xfrm>
            <a:off x="733806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Internet</a:t>
            </a:r>
            <a:endParaRPr lang="zh-TW" sz="1100" dirty="0"/>
          </a:p>
        </p:txBody>
      </p:sp>
      <p:sp>
        <p:nvSpPr>
          <p:cNvPr id="26" name="zone 網際網路"/>
          <p:cNvSpPr/>
          <p:nvPr/>
        </p:nvSpPr>
        <p:spPr>
          <a:xfrm>
            <a:off x="7338060" y="2011680"/>
            <a:ext cx="2011680" cy="2240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zone 網際網路 circle"/>
          <p:cNvSpPr/>
          <p:nvPr/>
        </p:nvSpPr>
        <p:spPr>
          <a:xfrm>
            <a:off x="7978140" y="2212848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8" name="zone 網際網路 icon" descr="TbWor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074" y="2373782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3806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網際網路</a:t>
            </a:r>
            <a:endParaRPr lang="zh-TW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429500" y="3456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IP 跨網域轉送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TLS／VPN 保護傳輸</a:t>
            </a:r>
            <a:endParaRPr lang="zh-TW" sz="1300" dirty="0"/>
          </a:p>
        </p:txBody>
      </p:sp>
      <p:sp>
        <p:nvSpPr>
          <p:cNvPr id="31" name="zone arrow 3"/>
          <p:cNvSpPr/>
          <p:nvPr/>
        </p:nvSpPr>
        <p:spPr>
          <a:xfrm>
            <a:off x="9377172" y="3131820"/>
            <a:ext cx="1965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6"/>
          <p:cNvSpPr txBox="1"/>
          <p:nvPr/>
        </p:nvSpPr>
        <p:spPr>
          <a:xfrm>
            <a:off x="960120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Network Edge（伺服器端）</a:t>
            </a:r>
            <a:endParaRPr lang="zh-TW" sz="1100" dirty="0"/>
          </a:p>
        </p:txBody>
      </p:sp>
      <p:sp>
        <p:nvSpPr>
          <p:cNvPr id="33" name="zone 雲端與服務"/>
          <p:cNvSpPr/>
          <p:nvPr/>
        </p:nvSpPr>
        <p:spPr>
          <a:xfrm>
            <a:off x="9601200" y="2011680"/>
            <a:ext cx="2011680" cy="2240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zone 雲端與服務 circle"/>
          <p:cNvSpPr/>
          <p:nvPr/>
        </p:nvSpPr>
        <p:spPr>
          <a:xfrm>
            <a:off x="10241280" y="2212848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5" name="zone 雲端與服務 icon" descr="TbClou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2214" y="2373782"/>
            <a:ext cx="409651" cy="40965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60120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雲端與服務</a:t>
            </a:r>
            <a:endParaRPr lang="zh-TW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692640" y="34564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雲端 GCS、影像平台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USS／UTM、分析</a:t>
            </a:r>
            <a:endParaRPr lang="zh-TW" sz="1300" dirty="0"/>
          </a:p>
        </p:txBody>
      </p:sp>
      <p:sp>
        <p:nvSpPr>
          <p:cNvPr id="38" name="path 0"/>
          <p:cNvSpPr/>
          <p:nvPr/>
        </p:nvSpPr>
        <p:spPr>
          <a:xfrm>
            <a:off x="548640" y="45262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path chip 0"/>
          <p:cNvSpPr/>
          <p:nvPr/>
        </p:nvSpPr>
        <p:spPr>
          <a:xfrm>
            <a:off x="685800" y="466344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3"/>
          <p:cNvSpPr txBox="1"/>
          <p:nvPr/>
        </p:nvSpPr>
        <p:spPr>
          <a:xfrm>
            <a:off x="685800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路徑 A｜視距</a:t>
            </a:r>
            <a:endParaRPr lang="zh-TW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2697480" y="45262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無人機 ⇄ 遙控器／地面站：點對點射頻直連，不經網際網路 → 延遲最低，但距離受視距與地形限制</a:t>
            </a:r>
            <a:endParaRPr lang="zh-TW" sz="1400" dirty="0"/>
          </a:p>
        </p:txBody>
      </p:sp>
      <p:sp>
        <p:nvSpPr>
          <p:cNvPr id="42" name="path 1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path chip 1"/>
          <p:cNvSpPr/>
          <p:nvPr/>
        </p:nvSpPr>
        <p:spPr>
          <a:xfrm>
            <a:off x="685800" y="553212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37"/>
          <p:cNvSpPr txBox="1"/>
          <p:nvPr/>
        </p:nvSpPr>
        <p:spPr>
          <a:xfrm>
            <a:off x="68580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路徑 B｜超視距</a:t>
            </a:r>
            <a:endParaRPr lang="zh-TW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2697480" y="53949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無人機 ⇄ 基地台 ⇄ 核心網 ⇄ 網際網路 ⇄ 雲端 ⇄ 操作員 → 可遠距、一人多機，但延遲、NAT、換手與資安問題隨之而來</a:t>
            </a:r>
            <a:endParaRPr lang="zh-TW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　系統架構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機上系統：飛控與機內網路</a:t>
            </a:r>
            <a:endParaRPr lang="en-US" sz="3400" dirty="0"/>
          </a:p>
        </p:txBody>
      </p:sp>
      <p:sp>
        <p:nvSpPr>
          <p:cNvPr id="4" name="bus line IMU、氣壓計等"/>
          <p:cNvSpPr/>
          <p:nvPr/>
        </p:nvSpPr>
        <p:spPr>
          <a:xfrm>
            <a:off x="2240280" y="2263140"/>
            <a:ext cx="365760" cy="14859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periph IMU、氣壓計等"/>
          <p:cNvSpPr/>
          <p:nvPr/>
        </p:nvSpPr>
        <p:spPr>
          <a:xfrm>
            <a:off x="548640" y="1828800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IMU、氣壓計等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I2C／SPI</a:t>
            </a:r>
            <a:endParaRPr lang="zh-TW" sz="1400" dirty="0"/>
          </a:p>
        </p:txBody>
      </p:sp>
      <p:sp>
        <p:nvSpPr>
          <p:cNvPr id="7" name="bus line 數傳／圖傳電台"/>
          <p:cNvSpPr/>
          <p:nvPr/>
        </p:nvSpPr>
        <p:spPr>
          <a:xfrm flipV="1">
            <a:off x="2240280" y="3749040"/>
            <a:ext cx="365760" cy="5029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eriph 數傳／圖傳電台"/>
          <p:cNvSpPr/>
          <p:nvPr/>
        </p:nvSpPr>
        <p:spPr>
          <a:xfrm>
            <a:off x="548640" y="3364992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21792" y="3364992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數傳／圖傳電台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UART（MAVLink）</a:t>
            </a:r>
            <a:endParaRPr lang="zh-TW" sz="1400" dirty="0"/>
          </a:p>
        </p:txBody>
      </p:sp>
      <p:sp>
        <p:nvSpPr>
          <p:cNvPr id="10" name="bus line 伴隨電腦"/>
          <p:cNvSpPr/>
          <p:nvPr/>
        </p:nvSpPr>
        <p:spPr>
          <a:xfrm flipV="1">
            <a:off x="2240280" y="3749040"/>
            <a:ext cx="365760" cy="15864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eriph 伴隨電腦"/>
          <p:cNvSpPr/>
          <p:nvPr/>
        </p:nvSpPr>
        <p:spPr>
          <a:xfrm>
            <a:off x="548640" y="4901184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21792" y="4901184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伴隨電腦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UART／Ethernet（DDS）</a:t>
            </a:r>
            <a:endParaRPr lang="zh-TW" sz="1400" dirty="0"/>
          </a:p>
        </p:txBody>
      </p:sp>
      <p:sp>
        <p:nvSpPr>
          <p:cNvPr id="13" name="bus line GNSS 接收器"/>
          <p:cNvSpPr/>
          <p:nvPr/>
        </p:nvSpPr>
        <p:spPr>
          <a:xfrm flipV="1">
            <a:off x="4069080" y="2263140"/>
            <a:ext cx="365760" cy="14859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periph GNSS 接收器"/>
          <p:cNvSpPr/>
          <p:nvPr/>
        </p:nvSpPr>
        <p:spPr>
          <a:xfrm>
            <a:off x="4434840" y="1828800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07992" y="18288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GNSS 接收器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UART／CAN</a:t>
            </a:r>
            <a:endParaRPr lang="zh-TW" sz="1400" dirty="0"/>
          </a:p>
        </p:txBody>
      </p:sp>
      <p:sp>
        <p:nvSpPr>
          <p:cNvPr id="16" name="bus line 電調 ESC ×4"/>
          <p:cNvSpPr/>
          <p:nvPr/>
        </p:nvSpPr>
        <p:spPr>
          <a:xfrm>
            <a:off x="4069080" y="3749040"/>
            <a:ext cx="365760" cy="5029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periph 電調 ESC ×4"/>
          <p:cNvSpPr/>
          <p:nvPr/>
        </p:nvSpPr>
        <p:spPr>
          <a:xfrm>
            <a:off x="4434840" y="3364992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07992" y="3364992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電調 ESC ×4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DShot／DroneCAN</a:t>
            </a:r>
            <a:endParaRPr lang="zh-TW" sz="1400" dirty="0"/>
          </a:p>
        </p:txBody>
      </p:sp>
      <p:sp>
        <p:nvSpPr>
          <p:cNvPr id="19" name="bus line 相機雲台"/>
          <p:cNvSpPr/>
          <p:nvPr/>
        </p:nvSpPr>
        <p:spPr>
          <a:xfrm>
            <a:off x="4069080" y="3749040"/>
            <a:ext cx="365760" cy="15864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periph 相機雲台"/>
          <p:cNvSpPr/>
          <p:nvPr/>
        </p:nvSpPr>
        <p:spPr>
          <a:xfrm>
            <a:off x="4434840" y="4901184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4507992" y="4901184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相機雲台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Ethernet／MAVLink</a:t>
            </a:r>
            <a:endParaRPr lang="zh-TW" sz="1400" dirty="0"/>
          </a:p>
        </p:txBody>
      </p:sp>
      <p:sp>
        <p:nvSpPr>
          <p:cNvPr id="22" name="flight controller"/>
          <p:cNvSpPr/>
          <p:nvPr/>
        </p:nvSpPr>
        <p:spPr>
          <a:xfrm>
            <a:off x="260604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260604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飛控 FC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PX4／ArduPilot</a:t>
            </a:r>
            <a:endParaRPr lang="zh-TW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15727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EKF 感測融合＋控制迴圈（每秒數百次）</a:t>
            </a:r>
            <a:endParaRPr lang="zh-TW" sz="1200" dirty="0"/>
          </a:p>
        </p:txBody>
      </p:sp>
      <p:graphicFrame>
        <p:nvGraphicFramePr>
          <p:cNvPr id="28" name="b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45920"/>
          <a:ext cx="5212080" cy="914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匯流排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典型連接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特性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I2C／SPI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板上感測器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短距離、主從式，接線少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UART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數傳電台、GNSS、伴隨電腦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點對點序列，MAVLink 最常見的載體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GNSS、ESC、電源（DroneCAN／Cyphal）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差動訊號抗雜訊；多節點共用匯流排，以 ID 仲裁解決碰撞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Ethernet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伴隨電腦、相機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高頻寬，可直接跑 IP／UDP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can note"/>
          <p:cNvSpPr/>
          <p:nvPr/>
        </p:nvSpPr>
        <p:spPr>
          <a:xfrm>
            <a:off x="6400800" y="5074920"/>
            <a:ext cx="521208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 txBox="1"/>
          <p:nvPr/>
        </p:nvSpPr>
        <p:spPr>
          <a:xfrm>
            <a:off x="6583680" y="5120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CAN 仲裁：不破壞封包的多重存取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同時發送時逐位元比較 ID，數值小者優先，輸的一方自動退讓；不會毀損封包，也不必像乙太網路那樣重傳。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　系統架構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邊緣運算與 AI：算力放在哪裡？</a:t>
            </a:r>
            <a:endParaRPr lang="en-US" sz="3400" dirty="0"/>
          </a:p>
        </p:txBody>
      </p:sp>
      <p:sp>
        <p:nvSpPr>
          <p:cNvPr id="4" name="tier 機上 Edge"/>
          <p:cNvSpPr/>
          <p:nvPr/>
        </p:nvSpPr>
        <p:spPr>
          <a:xfrm>
            <a:off x="548640" y="164592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ier 機上 Edge circle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tier 機上 Edge icon" descr="TbCp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3" y="209123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機上 Edge</a:t>
            </a:r>
            <a:endParaRPr lang="zh-TW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反應時間：毫秒級</a:t>
            </a:r>
            <a:endParaRPr lang="zh-TW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即時避障與目標辨識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視覺導航、精準降落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斷線時仍能自主返航</a:t>
            </a:r>
            <a:endParaRPr lang="zh-TW" sz="1400" dirty="0"/>
          </a:p>
        </p:txBody>
      </p:sp>
      <p:sp>
        <p:nvSpPr>
          <p:cNvPr id="10" name="tier arrow 0"/>
          <p:cNvSpPr/>
          <p:nvPr/>
        </p:nvSpPr>
        <p:spPr>
          <a:xfrm>
            <a:off x="3913632" y="3154680"/>
            <a:ext cx="4480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ier 機巢 Dock"/>
          <p:cNvSpPr/>
          <p:nvPr/>
        </p:nvSpPr>
        <p:spPr>
          <a:xfrm>
            <a:off x="4434840" y="164592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ier 機巢 Dock circle"/>
          <p:cNvSpPr/>
          <p:nvPr/>
        </p:nvSpPr>
        <p:spPr>
          <a:xfrm>
            <a:off x="470916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tier 機巢 Dock icon" descr="TbBatte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153" y="209123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機巢 Dock</a:t>
            </a:r>
            <a:endParaRPr lang="zh-TW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反應時間：秒級</a:t>
            </a:r>
            <a:endParaRPr lang="zh-TW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29260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Drone-in-a-Box 自動起降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自動充電或換電池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無人值守的定時巡檢</a:t>
            </a:r>
            <a:endParaRPr lang="zh-TW" sz="1400" dirty="0"/>
          </a:p>
        </p:txBody>
      </p:sp>
      <p:sp>
        <p:nvSpPr>
          <p:cNvPr id="17" name="tier arrow 1"/>
          <p:cNvSpPr/>
          <p:nvPr/>
        </p:nvSpPr>
        <p:spPr>
          <a:xfrm>
            <a:off x="7799832" y="3154680"/>
            <a:ext cx="44805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ier 雲端 Cloud"/>
          <p:cNvSpPr/>
          <p:nvPr/>
        </p:nvSpPr>
        <p:spPr>
          <a:xfrm>
            <a:off x="8321040" y="164592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ier 雲端 Cloud circle"/>
          <p:cNvSpPr/>
          <p:nvPr/>
        </p:nvSpPr>
        <p:spPr>
          <a:xfrm>
            <a:off x="859536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tier 雲端 Cloud icon" descr="TbClo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6353" y="2091233"/>
            <a:ext cx="435254" cy="435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50976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雲端 Cloud</a:t>
            </a:r>
            <a:endParaRPr lang="zh-TW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9509760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反應時間：分鐘級以上</a:t>
            </a:r>
            <a:endParaRPr lang="zh-TW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595360" y="29260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航線規劃與機隊管理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影像拼接、數位孿生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AI 模型訓練與更新</a:t>
            </a:r>
            <a:endParaRPr lang="zh-TW" sz="1400" dirty="0"/>
          </a:p>
        </p:txBody>
      </p:sp>
      <p:sp>
        <p:nvSpPr>
          <p:cNvPr id="24" name="why edge"/>
          <p:cNvSpPr/>
          <p:nvPr/>
        </p:nvSpPr>
        <p:spPr>
          <a:xfrm>
            <a:off x="548640" y="489204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 txBox="1"/>
          <p:nvPr/>
        </p:nvSpPr>
        <p:spPr>
          <a:xfrm>
            <a:off x="777240" y="49834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為什麼要把運算放到邊緣？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頻寬：4K 影像全量上傳成本高；延遲：避障不能等雲端回覆；韌性：鏈路中斷時仍要能安全飛行。</a:t>
            </a:r>
            <a:endParaRPr lang="zh-TW" sz="1400" dirty="0"/>
          </a:p>
        </p:txBody>
      </p:sp>
      <p:sp>
        <p:nvSpPr>
          <p:cNvPr id="26" name="aidc case"/>
          <p:cNvSpPr/>
          <p:nvPr/>
        </p:nvSpPr>
        <p:spPr>
          <a:xfrm>
            <a:off x="5897880" y="4892040"/>
            <a:ext cx="57150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aidc case circle"/>
          <p:cNvSpPr/>
          <p:nvPr/>
        </p:nvSpPr>
        <p:spPr>
          <a:xfrm>
            <a:off x="6080760" y="51206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8" name="aidc case icon" descr="Tb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1753" y="5291633"/>
            <a:ext cx="435254" cy="43525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040880" y="498348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案例：漢翔 × Vantor AIxVNAV（2026/5）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結合 AI 與視覺導航，在無 GPS 環境下達到公分級定位，可用於巡防、救災與基礎設施巡檢。</a:t>
            </a:r>
            <a:endParaRPr lang="zh-TW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通訊與網路｜總覽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無人機的三種通訊鏈路</a:t>
            </a:r>
            <a:endParaRPr lang="en-US" sz="3400" dirty="0"/>
          </a:p>
        </p:txBody>
      </p:sp>
      <p:sp>
        <p:nvSpPr>
          <p:cNvPr id="4" name="link 0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link 0 circle"/>
          <p:cNvSpPr/>
          <p:nvPr/>
        </p:nvSpPr>
        <p:spPr>
          <a:xfrm>
            <a:off x="777240" y="1947672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link 0 icon" descr="TbRou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3" y="2118665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10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指令與控制鏈路 C2</a:t>
            </a:r>
            <a:endParaRPr lang="zh-TW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94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雙向｜地面站 ⇄ 無人機</a:t>
            </a:r>
            <a:endParaRPr lang="zh-TW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4963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搖桿指令、航點、遙測（位置、電量、姿態）</a:t>
            </a:r>
            <a:endParaRPr lang="zh-TW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低延遲需求</a:t>
            </a:r>
            <a:endParaRPr lang="zh-TW" sz="1200" dirty="0"/>
          </a:p>
        </p:txBody>
      </p:sp>
      <p:sp>
        <p:nvSpPr>
          <p:cNvPr id="11" name="dot 0-0-0"/>
          <p:cNvSpPr/>
          <p:nvPr/>
        </p:nvSpPr>
        <p:spPr>
          <a:xfrm>
            <a:off x="630936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dot 0-0-1"/>
          <p:cNvSpPr/>
          <p:nvPr/>
        </p:nvSpPr>
        <p:spPr>
          <a:xfrm>
            <a:off x="658368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dot 0-0-2"/>
          <p:cNvSpPr/>
          <p:nvPr/>
        </p:nvSpPr>
        <p:spPr>
          <a:xfrm>
            <a:off x="685800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dot 0-0-3"/>
          <p:cNvSpPr/>
          <p:nvPr/>
        </p:nvSpPr>
        <p:spPr>
          <a:xfrm>
            <a:off x="713232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dot 0-0-4"/>
          <p:cNvSpPr/>
          <p:nvPr/>
        </p:nvSpPr>
        <p:spPr>
          <a:xfrm>
            <a:off x="740664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809244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頻寬需求</a:t>
            </a:r>
            <a:endParaRPr lang="zh-TW" sz="1200" dirty="0"/>
          </a:p>
        </p:txBody>
      </p:sp>
      <p:sp>
        <p:nvSpPr>
          <p:cNvPr id="17" name="dot 0-1-0"/>
          <p:cNvSpPr/>
          <p:nvPr/>
        </p:nvSpPr>
        <p:spPr>
          <a:xfrm>
            <a:off x="809244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dot 0-1-1"/>
          <p:cNvSpPr/>
          <p:nvPr/>
        </p:nvSpPr>
        <p:spPr>
          <a:xfrm>
            <a:off x="8366760" y="235915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dot 0-1-2"/>
          <p:cNvSpPr/>
          <p:nvPr/>
        </p:nvSpPr>
        <p:spPr>
          <a:xfrm>
            <a:off x="8641080" y="235915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dot 0-1-3"/>
          <p:cNvSpPr/>
          <p:nvPr/>
        </p:nvSpPr>
        <p:spPr>
          <a:xfrm>
            <a:off x="8915400" y="235915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dot 0-1-4"/>
          <p:cNvSpPr/>
          <p:nvPr/>
        </p:nvSpPr>
        <p:spPr>
          <a:xfrm>
            <a:off x="9189720" y="235915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 txBox="1"/>
          <p:nvPr/>
        </p:nvSpPr>
        <p:spPr>
          <a:xfrm>
            <a:off x="987552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可靠度需求</a:t>
            </a:r>
            <a:endParaRPr lang="zh-TW" sz="1200" dirty="0"/>
          </a:p>
        </p:txBody>
      </p:sp>
      <p:sp>
        <p:nvSpPr>
          <p:cNvPr id="23" name="dot 0-2-0"/>
          <p:cNvSpPr/>
          <p:nvPr/>
        </p:nvSpPr>
        <p:spPr>
          <a:xfrm>
            <a:off x="987552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dot 0-2-1"/>
          <p:cNvSpPr/>
          <p:nvPr/>
        </p:nvSpPr>
        <p:spPr>
          <a:xfrm>
            <a:off x="1014984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dot 0-2-2"/>
          <p:cNvSpPr/>
          <p:nvPr/>
        </p:nvSpPr>
        <p:spPr>
          <a:xfrm>
            <a:off x="1042416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dot 0-2-3"/>
          <p:cNvSpPr/>
          <p:nvPr/>
        </p:nvSpPr>
        <p:spPr>
          <a:xfrm>
            <a:off x="1069848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dot 0-2-4"/>
          <p:cNvSpPr/>
          <p:nvPr/>
        </p:nvSpPr>
        <p:spPr>
          <a:xfrm>
            <a:off x="10972800" y="235915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link 1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link 1 circle"/>
          <p:cNvSpPr/>
          <p:nvPr/>
        </p:nvSpPr>
        <p:spPr>
          <a:xfrm>
            <a:off x="777240" y="350215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0" name="link 1 icon" descr="TbCame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3" y="3673145"/>
            <a:ext cx="435254" cy="43525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783080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酬載資料鏈路</a:t>
            </a:r>
            <a:endParaRPr lang="zh-TW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78308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下行為主｜無人機 → 地面／雲端</a:t>
            </a:r>
            <a:endParaRPr lang="zh-TW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783080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即時影像、熱像、感測器資料</a:t>
            </a:r>
            <a:endParaRPr lang="zh-TW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630936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低延遲需求</a:t>
            </a:r>
            <a:endParaRPr lang="zh-TW" sz="1200" dirty="0"/>
          </a:p>
        </p:txBody>
      </p:sp>
      <p:sp>
        <p:nvSpPr>
          <p:cNvPr id="35" name="dot 1-0-0"/>
          <p:cNvSpPr/>
          <p:nvPr/>
        </p:nvSpPr>
        <p:spPr>
          <a:xfrm>
            <a:off x="630936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dot 1-0-1"/>
          <p:cNvSpPr/>
          <p:nvPr/>
        </p:nvSpPr>
        <p:spPr>
          <a:xfrm>
            <a:off x="658368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dot 1-0-2"/>
          <p:cNvSpPr/>
          <p:nvPr/>
        </p:nvSpPr>
        <p:spPr>
          <a:xfrm>
            <a:off x="685800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dot 1-0-3"/>
          <p:cNvSpPr/>
          <p:nvPr/>
        </p:nvSpPr>
        <p:spPr>
          <a:xfrm>
            <a:off x="713232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dot 1-0-4"/>
          <p:cNvSpPr/>
          <p:nvPr/>
        </p:nvSpPr>
        <p:spPr>
          <a:xfrm>
            <a:off x="7406640" y="391363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6"/>
          <p:cNvSpPr txBox="1"/>
          <p:nvPr/>
        </p:nvSpPr>
        <p:spPr>
          <a:xfrm>
            <a:off x="809244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頻寬需求</a:t>
            </a:r>
            <a:endParaRPr lang="zh-TW" sz="1200" dirty="0"/>
          </a:p>
        </p:txBody>
      </p:sp>
      <p:sp>
        <p:nvSpPr>
          <p:cNvPr id="41" name="dot 1-1-0"/>
          <p:cNvSpPr/>
          <p:nvPr/>
        </p:nvSpPr>
        <p:spPr>
          <a:xfrm>
            <a:off x="809244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dot 1-1-1"/>
          <p:cNvSpPr/>
          <p:nvPr/>
        </p:nvSpPr>
        <p:spPr>
          <a:xfrm>
            <a:off x="836676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dot 1-1-2"/>
          <p:cNvSpPr/>
          <p:nvPr/>
        </p:nvSpPr>
        <p:spPr>
          <a:xfrm>
            <a:off x="864108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dot 1-1-3"/>
          <p:cNvSpPr/>
          <p:nvPr/>
        </p:nvSpPr>
        <p:spPr>
          <a:xfrm>
            <a:off x="891540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dot 1-1-4"/>
          <p:cNvSpPr/>
          <p:nvPr/>
        </p:nvSpPr>
        <p:spPr>
          <a:xfrm>
            <a:off x="918972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2"/>
          <p:cNvSpPr txBox="1"/>
          <p:nvPr/>
        </p:nvSpPr>
        <p:spPr>
          <a:xfrm>
            <a:off x="987552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可靠度需求</a:t>
            </a:r>
            <a:endParaRPr lang="zh-TW" sz="1200" dirty="0"/>
          </a:p>
        </p:txBody>
      </p:sp>
      <p:sp>
        <p:nvSpPr>
          <p:cNvPr id="47" name="dot 1-2-0"/>
          <p:cNvSpPr/>
          <p:nvPr/>
        </p:nvSpPr>
        <p:spPr>
          <a:xfrm>
            <a:off x="987552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dot 1-2-1"/>
          <p:cNvSpPr/>
          <p:nvPr/>
        </p:nvSpPr>
        <p:spPr>
          <a:xfrm>
            <a:off x="1014984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dot 1-2-2"/>
          <p:cNvSpPr/>
          <p:nvPr/>
        </p:nvSpPr>
        <p:spPr>
          <a:xfrm>
            <a:off x="1042416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dot 1-2-3"/>
          <p:cNvSpPr/>
          <p:nvPr/>
        </p:nvSpPr>
        <p:spPr>
          <a:xfrm>
            <a:off x="10698480" y="391363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dot 1-2-4"/>
          <p:cNvSpPr/>
          <p:nvPr/>
        </p:nvSpPr>
        <p:spPr>
          <a:xfrm>
            <a:off x="10972800" y="391363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link 2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link 2 circle"/>
          <p:cNvSpPr/>
          <p:nvPr/>
        </p:nvSpPr>
        <p:spPr>
          <a:xfrm>
            <a:off x="777240" y="505663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4" name="link 2 icon" descr="TbWorl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33" y="5227625"/>
            <a:ext cx="435254" cy="435254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1783080" y="4919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識別與監管鏈路</a:t>
            </a:r>
            <a:endParaRPr lang="zh-TW" sz="1800" dirty="0"/>
          </a:p>
        </p:txBody>
      </p:sp>
      <p:sp>
        <p:nvSpPr>
          <p:cNvPr id="56" name="Text 51"/>
          <p:cNvSpPr txBox="1"/>
          <p:nvPr/>
        </p:nvSpPr>
        <p:spPr>
          <a:xfrm>
            <a:off x="1783080" y="5303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廣播／上報｜無人機 → 周邊與管理者</a:t>
            </a:r>
            <a:endParaRPr lang="zh-TW" sz="1300" dirty="0"/>
          </a:p>
        </p:txBody>
      </p:sp>
      <p:sp>
        <p:nvSpPr>
          <p:cNvPr id="57" name="Text 52"/>
          <p:cNvSpPr txBox="1"/>
          <p:nvPr/>
        </p:nvSpPr>
        <p:spPr>
          <a:xfrm>
            <a:off x="1783080" y="5605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識別碼、位置、高度、操作者位置（Remote ID）</a:t>
            </a:r>
            <a:endParaRPr lang="zh-TW" sz="1400" dirty="0"/>
          </a:p>
        </p:txBody>
      </p:sp>
      <p:sp>
        <p:nvSpPr>
          <p:cNvPr id="58" name="Text 53"/>
          <p:cNvSpPr txBox="1"/>
          <p:nvPr/>
        </p:nvSpPr>
        <p:spPr>
          <a:xfrm>
            <a:off x="6309360" y="5029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低延遲需求</a:t>
            </a:r>
            <a:endParaRPr lang="zh-TW" sz="1200" dirty="0"/>
          </a:p>
        </p:txBody>
      </p:sp>
      <p:sp>
        <p:nvSpPr>
          <p:cNvPr id="59" name="dot 2-0-0"/>
          <p:cNvSpPr/>
          <p:nvPr/>
        </p:nvSpPr>
        <p:spPr>
          <a:xfrm>
            <a:off x="630936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dot 2-0-1"/>
          <p:cNvSpPr/>
          <p:nvPr/>
        </p:nvSpPr>
        <p:spPr>
          <a:xfrm>
            <a:off x="658368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dot 2-0-2"/>
          <p:cNvSpPr/>
          <p:nvPr/>
        </p:nvSpPr>
        <p:spPr>
          <a:xfrm>
            <a:off x="685800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dot 2-0-3"/>
          <p:cNvSpPr/>
          <p:nvPr/>
        </p:nvSpPr>
        <p:spPr>
          <a:xfrm>
            <a:off x="713232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dot 2-0-4"/>
          <p:cNvSpPr/>
          <p:nvPr/>
        </p:nvSpPr>
        <p:spPr>
          <a:xfrm>
            <a:off x="740664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Text 59"/>
          <p:cNvSpPr txBox="1"/>
          <p:nvPr/>
        </p:nvSpPr>
        <p:spPr>
          <a:xfrm>
            <a:off x="8092440" y="5029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頻寬需求</a:t>
            </a:r>
            <a:endParaRPr lang="zh-TW" sz="1200" dirty="0"/>
          </a:p>
        </p:txBody>
      </p:sp>
      <p:sp>
        <p:nvSpPr>
          <p:cNvPr id="65" name="dot 2-1-0"/>
          <p:cNvSpPr/>
          <p:nvPr/>
        </p:nvSpPr>
        <p:spPr>
          <a:xfrm>
            <a:off x="809244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6" name="dot 2-1-1"/>
          <p:cNvSpPr/>
          <p:nvPr/>
        </p:nvSpPr>
        <p:spPr>
          <a:xfrm>
            <a:off x="836676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dot 2-1-2"/>
          <p:cNvSpPr/>
          <p:nvPr/>
        </p:nvSpPr>
        <p:spPr>
          <a:xfrm>
            <a:off x="864108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8" name="dot 2-1-3"/>
          <p:cNvSpPr/>
          <p:nvPr/>
        </p:nvSpPr>
        <p:spPr>
          <a:xfrm>
            <a:off x="891540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9" name="dot 2-1-4"/>
          <p:cNvSpPr/>
          <p:nvPr/>
        </p:nvSpPr>
        <p:spPr>
          <a:xfrm>
            <a:off x="918972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5"/>
          <p:cNvSpPr txBox="1"/>
          <p:nvPr/>
        </p:nvSpPr>
        <p:spPr>
          <a:xfrm>
            <a:off x="9875520" y="5029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可靠度需求</a:t>
            </a:r>
            <a:endParaRPr lang="zh-TW" sz="1200" dirty="0"/>
          </a:p>
        </p:txBody>
      </p:sp>
      <p:sp>
        <p:nvSpPr>
          <p:cNvPr id="71" name="dot 2-2-0"/>
          <p:cNvSpPr/>
          <p:nvPr/>
        </p:nvSpPr>
        <p:spPr>
          <a:xfrm>
            <a:off x="987552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2" name="dot 2-2-1"/>
          <p:cNvSpPr/>
          <p:nvPr/>
        </p:nvSpPr>
        <p:spPr>
          <a:xfrm>
            <a:off x="1014984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3" name="dot 2-2-2"/>
          <p:cNvSpPr/>
          <p:nvPr/>
        </p:nvSpPr>
        <p:spPr>
          <a:xfrm>
            <a:off x="1042416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4" name="dot 2-2-3"/>
          <p:cNvSpPr/>
          <p:nvPr/>
        </p:nvSpPr>
        <p:spPr>
          <a:xfrm>
            <a:off x="10698480" y="546811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5" name="dot 2-2-4"/>
          <p:cNvSpPr/>
          <p:nvPr/>
        </p:nvSpPr>
        <p:spPr>
          <a:xfrm>
            <a:off x="10972800" y="5468112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通訊與網路｜總覽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對照網路分層：無人機的協定堆疊</a:t>
            </a:r>
            <a:endParaRPr lang="en-US" sz="3400" dirty="0"/>
          </a:p>
        </p:txBody>
      </p:sp>
      <p:sp>
        <p:nvSpPr>
          <p:cNvPr id="4" name="stack label 應用層"/>
          <p:cNvSpPr/>
          <p:nvPr/>
        </p:nvSpPr>
        <p:spPr>
          <a:xfrm>
            <a:off x="548640" y="1645920"/>
            <a:ext cx="17373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應用層</a:t>
            </a:r>
            <a:endParaRPr lang="zh-TW" sz="1400" dirty="0"/>
          </a:p>
        </p:txBody>
      </p:sp>
      <p:sp>
        <p:nvSpPr>
          <p:cNvPr id="6" name="stack protocols 應用層"/>
          <p:cNvSpPr/>
          <p:nvPr/>
        </p:nvSpPr>
        <p:spPr>
          <a:xfrm>
            <a:off x="2377440" y="164592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2514600" y="164592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MAVLink（指令／遙測）｜RTSP／RTP 影像｜MQTT 雲端遙測｜ASTM F3411 Remote ID</a:t>
            </a:r>
            <a:endParaRPr lang="zh-TW" sz="1400" dirty="0"/>
          </a:p>
        </p:txBody>
      </p:sp>
      <p:sp>
        <p:nvSpPr>
          <p:cNvPr id="8" name="stack label 傳輸層"/>
          <p:cNvSpPr/>
          <p:nvPr/>
        </p:nvSpPr>
        <p:spPr>
          <a:xfrm>
            <a:off x="548640" y="2761488"/>
            <a:ext cx="173736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614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傳輸層</a:t>
            </a:r>
            <a:endParaRPr lang="zh-TW" sz="1400" dirty="0"/>
          </a:p>
        </p:txBody>
      </p:sp>
      <p:sp>
        <p:nvSpPr>
          <p:cNvPr id="10" name="stack protocols 傳輸層"/>
          <p:cNvSpPr/>
          <p:nvPr/>
        </p:nvSpPr>
        <p:spPr>
          <a:xfrm>
            <a:off x="2377440" y="2761488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2514600" y="276148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UDP（即時控制、影像串流）｜TCP＋TLS、QUIC（雲端 API、檔案上傳）</a:t>
            </a:r>
            <a:endParaRPr lang="zh-TW" sz="1400" dirty="0"/>
          </a:p>
        </p:txBody>
      </p:sp>
      <p:sp>
        <p:nvSpPr>
          <p:cNvPr id="12" name="stack label 網路層"/>
          <p:cNvSpPr/>
          <p:nvPr/>
        </p:nvSpPr>
        <p:spPr>
          <a:xfrm>
            <a:off x="548640" y="3877056"/>
            <a:ext cx="17373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877056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網路層</a:t>
            </a:r>
            <a:endParaRPr lang="zh-TW" sz="1400" dirty="0"/>
          </a:p>
        </p:txBody>
      </p:sp>
      <p:sp>
        <p:nvSpPr>
          <p:cNvPr id="14" name="stack protocols 網路層"/>
          <p:cNvSpPr/>
          <p:nvPr/>
        </p:nvSpPr>
        <p:spPr>
          <a:xfrm>
            <a:off x="2377440" y="3877056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2514600" y="38770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IPv4／IPv6（蜂巢網路、Wi-Fi）｜部分專有圖傳鏈路不經過 IP</a:t>
            </a:r>
            <a:endParaRPr lang="zh-TW" sz="1400" dirty="0"/>
          </a:p>
        </p:txBody>
      </p:sp>
      <p:sp>
        <p:nvSpPr>
          <p:cNvPr id="16" name="stack label 鏈結／實體層"/>
          <p:cNvSpPr/>
          <p:nvPr/>
        </p:nvSpPr>
        <p:spPr>
          <a:xfrm>
            <a:off x="548640" y="4992624"/>
            <a:ext cx="17373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99262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鏈結／實體層</a:t>
            </a:r>
            <a:endParaRPr lang="zh-TW" sz="1400" dirty="0"/>
          </a:p>
        </p:txBody>
      </p:sp>
      <p:sp>
        <p:nvSpPr>
          <p:cNvPr id="18" name="stack protocols 鏈結／實體層"/>
          <p:cNvSpPr/>
          <p:nvPr/>
        </p:nvSpPr>
        <p:spPr>
          <a:xfrm>
            <a:off x="2377440" y="4992624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2514600" y="499262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專有 OFDM 圖傳｜IEEE 802.11｜Bluetooth LE｜LTE／5G NR｜光纖</a:t>
            </a:r>
            <a:endParaRPr lang="zh-TW" sz="1400" dirty="0"/>
          </a:p>
        </p:txBody>
      </p:sp>
      <p:sp>
        <p:nvSpPr>
          <p:cNvPr id="20" name="mavlink panel"/>
          <p:cNvSpPr/>
          <p:nvPr/>
        </p:nvSpPr>
        <p:spPr>
          <a:xfrm>
            <a:off x="7498080" y="1645920"/>
            <a:ext cx="4114800" cy="4462272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777240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MAVLink：無人機的共同語言</a:t>
            </a:r>
            <a:endParaRPr lang="zh-TW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233172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bg1"/>
                </a:solidFill>
              </a:rPr>
              <a:t>開源、輕量的二進位訊息協定，PX4、ArduPilot 與 QGC 地面站共用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bg1"/>
                </a:solidFill>
              </a:rPr>
              <a:t>可跑在 UDP、序列埠或無線電數據機上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bg1"/>
                </a:solidFill>
              </a:rPr>
              <a:t>HEARTBEAT 訊息約每秒一次，用來判斷鏈路是否存活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bg1"/>
                </a:solidFill>
              </a:rPr>
              <a:t>MAVLink 2 支援選用的訊息簽章，防止偽造指令</a:t>
            </a:r>
            <a:endParaRPr lang="zh-TW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92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MAVLink 2 封包結構（最大 280 bytes）</a:t>
            </a:r>
            <a:endParaRPr lang="zh-TW" sz="1200" dirty="0"/>
          </a:p>
        </p:txBody>
      </p:sp>
      <p:sp>
        <p:nvSpPr>
          <p:cNvPr id="24" name="frame 標頭 10"/>
          <p:cNvSpPr/>
          <p:nvPr/>
        </p:nvSpPr>
        <p:spPr>
          <a:xfrm>
            <a:off x="7772400" y="5257800"/>
            <a:ext cx="82296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7772400" y="5257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標頭 10</a:t>
            </a:r>
            <a:endParaRPr lang="zh-TW" sz="1100" dirty="0"/>
          </a:p>
        </p:txBody>
      </p:sp>
      <p:sp>
        <p:nvSpPr>
          <p:cNvPr id="26" name="frame Payload ≤255"/>
          <p:cNvSpPr/>
          <p:nvPr/>
        </p:nvSpPr>
        <p:spPr>
          <a:xfrm>
            <a:off x="8595360" y="5257800"/>
            <a:ext cx="16459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8595360" y="5257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Payload ≤255</a:t>
            </a:r>
            <a:endParaRPr lang="zh-TW" sz="1100" dirty="0"/>
          </a:p>
        </p:txBody>
      </p:sp>
      <p:sp>
        <p:nvSpPr>
          <p:cNvPr id="28" name="frame CRC 2"/>
          <p:cNvSpPr/>
          <p:nvPr/>
        </p:nvSpPr>
        <p:spPr>
          <a:xfrm>
            <a:off x="10241280" y="5257800"/>
            <a:ext cx="59436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241280" y="5257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CRC 2</a:t>
            </a:r>
            <a:endParaRPr lang="zh-TW" sz="1100" dirty="0"/>
          </a:p>
        </p:txBody>
      </p:sp>
      <p:sp>
        <p:nvSpPr>
          <p:cNvPr id="30" name="frame 簽章 13"/>
          <p:cNvSpPr/>
          <p:nvPr/>
        </p:nvSpPr>
        <p:spPr>
          <a:xfrm>
            <a:off x="10835640" y="5257800"/>
            <a:ext cx="68580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10835640" y="5257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簽章 13</a:t>
            </a:r>
            <a:endParaRPr lang="zh-TW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應用層：三種通訊模式</a:t>
            </a:r>
            <a:endParaRPr lang="en-US" sz="3400" dirty="0"/>
          </a:p>
        </p:txBody>
      </p:sp>
      <p:sp>
        <p:nvSpPr>
          <p:cNvPr id="4" name="app pattern 請求／回應"/>
          <p:cNvSpPr/>
          <p:nvPr/>
        </p:nvSpPr>
        <p:spPr>
          <a:xfrm>
            <a:off x="548640" y="1645920"/>
            <a:ext cx="3511296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app pattern 請求／回應 circle"/>
          <p:cNvSpPr/>
          <p:nvPr/>
        </p:nvSpPr>
        <p:spPr>
          <a:xfrm>
            <a:off x="777240" y="1874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app pattern 請求／回應 icon" descr="TbSer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0253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745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請求／回應</a:t>
            </a:r>
            <a:endParaRPr lang="zh-TW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585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Request–Response</a:t>
            </a:r>
            <a:endParaRPr lang="zh-TW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HTTP REST＋TLS</a:t>
            </a:r>
            <a:endParaRPr lang="zh-TW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USS 之間交換飛行意圖（ASTM F3548）、任務上傳、機隊管理 API</a:t>
            </a:r>
            <a:endParaRPr lang="zh-TW" sz="1300" dirty="0"/>
          </a:p>
        </p:txBody>
      </p:sp>
      <p:sp>
        <p:nvSpPr>
          <p:cNvPr id="11" name="app pattern 發布／訂閱"/>
          <p:cNvSpPr/>
          <p:nvPr/>
        </p:nvSpPr>
        <p:spPr>
          <a:xfrm>
            <a:off x="4325112" y="1645920"/>
            <a:ext cx="3511296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app pattern 發布／訂閱 circle"/>
          <p:cNvSpPr/>
          <p:nvPr/>
        </p:nvSpPr>
        <p:spPr>
          <a:xfrm>
            <a:off x="4553712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app pattern 發布／訂閱 icon" descr="TbNet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88" y="20253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76672" y="18745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發布／訂閱</a:t>
            </a:r>
            <a:endParaRPr lang="zh-TW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376672" y="22585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Publish–Subscribe</a:t>
            </a:r>
            <a:endParaRPr lang="zh-TW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53712" y="27432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MQTT（TCP）、DDS（UDP）</a:t>
            </a:r>
            <a:endParaRPr lang="zh-TW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53712" y="310896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機隊遙測上雲；MQTT QoS 0／1／2＝最多一次／至少一次／恰好一次；PX4 以 uXRCE-DDS 接 ROS 2</a:t>
            </a:r>
            <a:endParaRPr lang="zh-TW" sz="1300" dirty="0"/>
          </a:p>
        </p:txBody>
      </p:sp>
      <p:sp>
        <p:nvSpPr>
          <p:cNvPr id="18" name="app pattern 串流"/>
          <p:cNvSpPr/>
          <p:nvPr/>
        </p:nvSpPr>
        <p:spPr>
          <a:xfrm>
            <a:off x="8101584" y="1645920"/>
            <a:ext cx="3511296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app pattern 串流 circle"/>
          <p:cNvSpPr/>
          <p:nvPr/>
        </p:nvSpPr>
        <p:spPr>
          <a:xfrm>
            <a:off x="8330184" y="1874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app pattern 串流 icon" descr="TbCamer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2539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53144" y="18745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串流</a:t>
            </a:r>
            <a:endParaRPr lang="zh-TW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153144" y="22585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Streaming</a:t>
            </a:r>
            <a:endParaRPr lang="zh-TW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30184" y="27432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RTSP＋RTP、WebRTC</a:t>
            </a:r>
            <a:endParaRPr lang="zh-TW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30184" y="310896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即時影像回傳；RTP 跑在 UDP 上，WebRTC 內建 NAT 穿越與加密</a:t>
            </a:r>
            <a:endParaRPr lang="zh-TW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446227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MAVLink 任務上傳握手（Mission Protocol）：在 UDP 之上，由應用層自己做可靠傳輸</a:t>
            </a:r>
            <a:endParaRPr lang="zh-TW" sz="1500" dirty="0"/>
          </a:p>
        </p:txBody>
      </p:sp>
      <p:sp>
        <p:nvSpPr>
          <p:cNvPr id="26" name="seq 0"/>
          <p:cNvSpPr/>
          <p:nvPr/>
        </p:nvSpPr>
        <p:spPr>
          <a:xfrm>
            <a:off x="548640" y="489204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2"/>
          <p:cNvSpPr txBox="1"/>
          <p:nvPr/>
        </p:nvSpPr>
        <p:spPr>
          <a:xfrm>
            <a:off x="603504" y="48920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GCS → 無人機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MISSION_COUNT (n)</a:t>
            </a:r>
            <a:endParaRPr lang="zh-TW" sz="1400" dirty="0"/>
          </a:p>
        </p:txBody>
      </p:sp>
      <p:sp>
        <p:nvSpPr>
          <p:cNvPr id="28" name="seq 1"/>
          <p:cNvSpPr/>
          <p:nvPr/>
        </p:nvSpPr>
        <p:spPr>
          <a:xfrm>
            <a:off x="2788920" y="489204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4"/>
          <p:cNvSpPr txBox="1"/>
          <p:nvPr/>
        </p:nvSpPr>
        <p:spPr>
          <a:xfrm>
            <a:off x="2843784" y="48920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無人機 → GCS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MISSION_REQUEST_INT (0)</a:t>
            </a:r>
            <a:endParaRPr lang="zh-TW" sz="1400" dirty="0"/>
          </a:p>
        </p:txBody>
      </p:sp>
      <p:sp>
        <p:nvSpPr>
          <p:cNvPr id="30" name="seq 2"/>
          <p:cNvSpPr/>
          <p:nvPr/>
        </p:nvSpPr>
        <p:spPr>
          <a:xfrm>
            <a:off x="5029200" y="489204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 txBox="1"/>
          <p:nvPr/>
        </p:nvSpPr>
        <p:spPr>
          <a:xfrm>
            <a:off x="5084064" y="48920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GCS → 無人機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MISSION_ITEM_INT (0)</a:t>
            </a:r>
            <a:endParaRPr lang="zh-TW" sz="1400" dirty="0"/>
          </a:p>
        </p:txBody>
      </p:sp>
      <p:sp>
        <p:nvSpPr>
          <p:cNvPr id="32" name="seq 3"/>
          <p:cNvSpPr/>
          <p:nvPr/>
        </p:nvSpPr>
        <p:spPr>
          <a:xfrm>
            <a:off x="7269480" y="489204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8"/>
          <p:cNvSpPr txBox="1"/>
          <p:nvPr/>
        </p:nvSpPr>
        <p:spPr>
          <a:xfrm>
            <a:off x="7324344" y="48920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… 逐筆請求、逐筆傳送 …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重複 n 次；逾時則重送</a:t>
            </a:r>
            <a:endParaRPr lang="zh-TW" sz="1400" dirty="0"/>
          </a:p>
        </p:txBody>
      </p:sp>
      <p:sp>
        <p:nvSpPr>
          <p:cNvPr id="34" name="seq 4"/>
          <p:cNvSpPr/>
          <p:nvPr/>
        </p:nvSpPr>
        <p:spPr>
          <a:xfrm>
            <a:off x="9509760" y="489204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0"/>
          <p:cNvSpPr txBox="1"/>
          <p:nvPr/>
        </p:nvSpPr>
        <p:spPr>
          <a:xfrm>
            <a:off x="9564624" y="48920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無人機 → GCS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MISSION_ACK</a:t>
            </a:r>
            <a:endParaRPr lang="zh-TW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序號＋確認（ACK）＋逾時重送：底層 UDP 不保證送達，可靠性由應用層自己補上。</a:t>
            </a:r>
            <a:endParaRPr lang="zh-TW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傳輸層取捨：控制鏈路為何偏好 UDP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4"/>
                </a:solidFill>
              </a:rPr>
              <a:t>TCP</a:t>
            </a:r>
            <a:endParaRPr lang="zh-TW" sz="2000" dirty="0"/>
          </a:p>
        </p:txBody>
      </p:sp>
      <p:sp>
        <p:nvSpPr>
          <p:cNvPr id="5" name="pkt TCP 1"/>
          <p:cNvSpPr/>
          <p:nvPr/>
        </p:nvSpPr>
        <p:spPr>
          <a:xfrm>
            <a:off x="1508760" y="173736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1</a:t>
            </a:r>
            <a:endParaRPr lang="zh-TW" sz="1600" dirty="0"/>
          </a:p>
        </p:txBody>
      </p:sp>
      <p:sp>
        <p:nvSpPr>
          <p:cNvPr id="7" name="pkt TCP 2"/>
          <p:cNvSpPr/>
          <p:nvPr/>
        </p:nvSpPr>
        <p:spPr>
          <a:xfrm>
            <a:off x="2286000" y="173736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228600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2</a:t>
            </a:r>
            <a:endParaRPr lang="zh-TW" sz="1600" dirty="0"/>
          </a:p>
        </p:txBody>
      </p:sp>
      <p:sp>
        <p:nvSpPr>
          <p:cNvPr id="9" name="pkt TCP 3"/>
          <p:cNvSpPr/>
          <p:nvPr/>
        </p:nvSpPr>
        <p:spPr>
          <a:xfrm>
            <a:off x="3063240" y="173736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306324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✕</a:t>
            </a:r>
            <a:endParaRPr lang="zh-TW" sz="1600" dirty="0"/>
          </a:p>
        </p:txBody>
      </p:sp>
      <p:sp>
        <p:nvSpPr>
          <p:cNvPr id="11" name="pkt TCP 4"/>
          <p:cNvSpPr/>
          <p:nvPr/>
        </p:nvSpPr>
        <p:spPr>
          <a:xfrm>
            <a:off x="3840480" y="173736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84048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tx2"/>
                </a:solidFill>
              </a:rPr>
              <a:t>4</a:t>
            </a:r>
            <a:endParaRPr lang="zh-TW" sz="1600" dirty="0"/>
          </a:p>
        </p:txBody>
      </p:sp>
      <p:sp>
        <p:nvSpPr>
          <p:cNvPr id="13" name="pkt TCP 5"/>
          <p:cNvSpPr/>
          <p:nvPr/>
        </p:nvSpPr>
        <p:spPr>
          <a:xfrm>
            <a:off x="4617720" y="173736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1772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tx2"/>
                </a:solidFill>
              </a:rPr>
              <a:t>5</a:t>
            </a:r>
            <a:endParaRPr lang="zh-TW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691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封包 3 重傳完成前，已到達的 4、5 也只能排隊 → 整體延遲（head-of-line blocking）</a:t>
            </a:r>
            <a:endParaRPr lang="zh-TW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UDP</a:t>
            </a:r>
            <a:endParaRPr lang="zh-TW" sz="2000" dirty="0"/>
          </a:p>
        </p:txBody>
      </p:sp>
      <p:sp>
        <p:nvSpPr>
          <p:cNvPr id="17" name="pkt UDP 1"/>
          <p:cNvSpPr/>
          <p:nvPr/>
        </p:nvSpPr>
        <p:spPr>
          <a:xfrm>
            <a:off x="1508760" y="260604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150876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1</a:t>
            </a:r>
            <a:endParaRPr lang="zh-TW" sz="1600" dirty="0"/>
          </a:p>
        </p:txBody>
      </p:sp>
      <p:sp>
        <p:nvSpPr>
          <p:cNvPr id="19" name="pkt UDP 2"/>
          <p:cNvSpPr/>
          <p:nvPr/>
        </p:nvSpPr>
        <p:spPr>
          <a:xfrm>
            <a:off x="2286000" y="260604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228600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2</a:t>
            </a:r>
            <a:endParaRPr lang="zh-TW" sz="1600" dirty="0"/>
          </a:p>
        </p:txBody>
      </p:sp>
      <p:sp>
        <p:nvSpPr>
          <p:cNvPr id="21" name="pkt UDP 3"/>
          <p:cNvSpPr/>
          <p:nvPr/>
        </p:nvSpPr>
        <p:spPr>
          <a:xfrm>
            <a:off x="3063240" y="260604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306324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✕</a:t>
            </a:r>
            <a:endParaRPr lang="zh-TW" sz="1600" dirty="0"/>
          </a:p>
        </p:txBody>
      </p:sp>
      <p:sp>
        <p:nvSpPr>
          <p:cNvPr id="23" name="pkt UDP 4"/>
          <p:cNvSpPr/>
          <p:nvPr/>
        </p:nvSpPr>
        <p:spPr>
          <a:xfrm>
            <a:off x="3840480" y="260604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384048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4</a:t>
            </a:r>
            <a:endParaRPr lang="zh-TW" sz="1600" dirty="0"/>
          </a:p>
        </p:txBody>
      </p:sp>
      <p:sp>
        <p:nvSpPr>
          <p:cNvPr id="25" name="pkt UDP 5"/>
          <p:cNvSpPr/>
          <p:nvPr/>
        </p:nvSpPr>
        <p:spPr>
          <a:xfrm>
            <a:off x="4617720" y="2606040"/>
            <a:ext cx="6400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461772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5</a:t>
            </a:r>
            <a:endParaRPr lang="zh-TW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4、5 直接交給應用程式；控制只需要「最新狀態」，遺失的舊指令可忽略</a:t>
            </a:r>
            <a:endParaRPr lang="zh-TW" sz="1400" dirty="0"/>
          </a:p>
        </p:txBody>
      </p:sp>
      <p:sp>
        <p:nvSpPr>
          <p:cNvPr id="28" name="card TCP：可靠、有序"/>
          <p:cNvSpPr/>
          <p:nvPr/>
        </p:nvSpPr>
        <p:spPr>
          <a:xfrm>
            <a:off x="548640" y="361188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card TCP：可靠、有序 circle"/>
          <p:cNvSpPr/>
          <p:nvPr/>
        </p:nvSpPr>
        <p:spPr>
          <a:xfrm>
            <a:off x="822960" y="3867912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0" name="card TCP：可靠、有序 icon" descr="Tb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018788"/>
            <a:ext cx="384048" cy="38404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69164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TCP：可靠、有序</a:t>
            </a:r>
            <a:endParaRPr lang="zh-TW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47091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適合：</a:t>
            </a:r>
            <a:r>
              <a:rPr lang="zh-TW" altLang="en-US" sz="1500" dirty="0">
                <a:solidFill>
                  <a:schemeClr val="tx1"/>
                </a:solidFill>
              </a:rPr>
              <a:t>雲端 API、韌體更新、任務檔與影像檔上傳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原因：</a:t>
            </a:r>
            <a:r>
              <a:rPr lang="zh-TW" altLang="en-US" sz="1500" dirty="0">
                <a:solidFill>
                  <a:schemeClr val="tx1"/>
                </a:solidFill>
              </a:rPr>
              <a:t>資料必須完整，晚一點到可以接受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代價：</a:t>
            </a:r>
            <a:r>
              <a:rPr lang="zh-TW" altLang="en-US" sz="1500" dirty="0">
                <a:solidFill>
                  <a:schemeClr val="tx1"/>
                </a:solidFill>
              </a:rPr>
              <a:t>重傳與有序交付會放大延遲</a:t>
            </a:r>
            <a:endParaRPr lang="zh-TW" sz="1400" dirty="0"/>
          </a:p>
        </p:txBody>
      </p:sp>
      <p:sp>
        <p:nvSpPr>
          <p:cNvPr id="33" name="card UDP：即時、不重傳"/>
          <p:cNvSpPr/>
          <p:nvPr/>
        </p:nvSpPr>
        <p:spPr>
          <a:xfrm>
            <a:off x="6217920" y="361188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card UDP：即時、不重傳 circle"/>
          <p:cNvSpPr/>
          <p:nvPr/>
        </p:nvSpPr>
        <p:spPr>
          <a:xfrm>
            <a:off x="6492240" y="386791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5" name="card UDP：即時、不重傳 icon" descr="TbBo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018788"/>
            <a:ext cx="384048" cy="38404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36092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UDP：即時、不重傳</a:t>
            </a:r>
            <a:endParaRPr lang="zh-TW" sz="2000" dirty="0"/>
          </a:p>
        </p:txBody>
      </p:sp>
      <p:sp>
        <p:nvSpPr>
          <p:cNvPr id="37" name="Text 33"/>
          <p:cNvSpPr txBox="1"/>
          <p:nvPr/>
        </p:nvSpPr>
        <p:spPr>
          <a:xfrm>
            <a:off x="6492240" y="47091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適合：</a:t>
            </a:r>
            <a:r>
              <a:rPr lang="zh-TW" altLang="en-US" sz="1500" dirty="0">
                <a:solidFill>
                  <a:schemeClr val="tx1"/>
                </a:solidFill>
              </a:rPr>
              <a:t>搖桿控制、遙測、即時影像（RTP＋FEC）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補強：</a:t>
            </a:r>
            <a:r>
              <a:rPr lang="zh-TW" altLang="en-US" sz="1500" dirty="0">
                <a:solidFill>
                  <a:schemeClr val="tx1"/>
                </a:solidFill>
              </a:rPr>
              <a:t>應用層加序號、心跳、逾時 failsafe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延伸：</a:t>
            </a:r>
            <a:r>
              <a:rPr lang="zh-TW" altLang="en-US" sz="1500" dirty="0">
                <a:solidFill>
                  <a:schemeClr val="tx1"/>
                </a:solidFill>
              </a:rPr>
              <a:t>QUIC 建於 UDP 上，以多串流避開 HOL</a:t>
            </a:r>
            <a:endParaRPr lang="zh-TW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延遲與頻寬：實際算一次</a:t>
            </a:r>
            <a:endParaRPr lang="en-US" sz="34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645920"/>
            <a:ext cx="3931920" cy="452628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節點延遲的四個組成</a:t>
            </a:r>
            <a:endParaRPr lang="zh-TW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d_nodal =</a:t>
            </a:r>
            <a:endParaRPr lang="zh-TW" sz="1300" dirty="0"/>
          </a:p>
          <a:p>
            <a:pPr marL="0" indent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d_proc + d_queue + d_trans + d_prop</a:t>
            </a:r>
            <a:endParaRPr lang="zh-TW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300" b="1" dirty="0">
                <a:solidFill>
                  <a:schemeClr val="bg1"/>
                </a:solidFill>
              </a:rPr>
              <a:t>傳輸延遲 d_trans = L／R：</a:t>
            </a:r>
            <a:r>
              <a:rPr lang="zh-TW" altLang="en-US" sz="1300" dirty="0">
                <a:solidFill>
                  <a:schemeClr val="bg1"/>
                </a:solidFill>
              </a:rPr>
              <a:t>封包長度 ÷ 鏈路速率</a:t>
            </a:r>
            <a:endParaRPr lang="zh-TW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300" b="1" dirty="0">
                <a:solidFill>
                  <a:schemeClr val="bg1"/>
                </a:solidFill>
              </a:rPr>
              <a:t>傳播延遲 d_prop = d／s：</a:t>
            </a:r>
            <a:r>
              <a:rPr lang="zh-TW" altLang="en-US" sz="1300" dirty="0">
                <a:solidFill>
                  <a:schemeClr val="bg1"/>
                </a:solidFill>
              </a:rPr>
              <a:t>距離 ÷ 傳播速度（約 3×10⁸ m/s）</a:t>
            </a:r>
            <a:endParaRPr lang="zh-TW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300" b="1" dirty="0">
                <a:solidFill>
                  <a:schemeClr val="bg1"/>
                </a:solidFill>
              </a:rPr>
              <a:t>排隊延遲：</a:t>
            </a:r>
            <a:r>
              <a:rPr lang="zh-TW" altLang="en-US" sz="1300" dirty="0">
                <a:solidFill>
                  <a:schemeClr val="bg1"/>
                </a:solidFill>
              </a:rPr>
              <a:t>流量強度 La／R 接近 1 時急遽上升</a:t>
            </a:r>
            <a:endParaRPr lang="zh-TW" sz="1400" dirty="0"/>
          </a:p>
        </p:txBody>
      </p:sp>
      <p:sp>
        <p:nvSpPr>
          <p:cNvPr id="8" name="formula divider"/>
          <p:cNvSpPr/>
          <p:nvPr/>
        </p:nvSpPr>
        <p:spPr>
          <a:xfrm>
            <a:off x="777240" y="4663440"/>
            <a:ext cx="3474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47548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工程意涵　</a:t>
            </a:r>
            <a:r>
              <a:rPr lang="zh-TW" altLang="en-US" sz="1300" dirty="0">
                <a:solidFill>
                  <a:schemeClr val="bg1"/>
                </a:solidFill>
              </a:rPr>
              <a:t>控制與影像共用一條鏈路時，影像會把佇列塞滿；需以優先權佇列（QoS）讓控制封包先走。</a:t>
            </a:r>
            <a:endParaRPr lang="zh-TW" sz="1300" dirty="0"/>
          </a:p>
        </p:txBody>
      </p:sp>
      <p:graphicFrame>
        <p:nvGraphicFramePr>
          <p:cNvPr id="14" name="dela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情境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計算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結果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控制封包 50 B 經 57.6 kbps 數傳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400 bit ÷ 57,600 bps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d_trans ≈ 6.9 ms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MB 照片經 10 Mbps 上行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Mbit ÷ 10 Mbps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d_trans ＝ 0.8 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 km 視距無線電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10⁴ m ÷ 3×10⁸ m/s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d_prop ≈ 0.03 ms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低軌衛星 550 km（上＋下）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1,100 km ÷ 3×10⁸ m/s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d_prop ≈ 3.7 ms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同步衛星 35,786 km（上＋下）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71,572 km ÷ 3×10⁸ m/s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d_prop ≈ 0.24 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video stat 0"/>
          <p:cNvSpPr/>
          <p:nvPr/>
        </p:nvSpPr>
        <p:spPr>
          <a:xfrm>
            <a:off x="4754880" y="4663440"/>
            <a:ext cx="21945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 txBox="1"/>
          <p:nvPr/>
        </p:nvSpPr>
        <p:spPr>
          <a:xfrm>
            <a:off x="4892040" y="4736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1.49 Gbps</a:t>
            </a:r>
            <a:endParaRPr lang="zh-TW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5257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未壓縮 1080p30 影像</a:t>
            </a:r>
            <a:endParaRPr lang="zh-TW" sz="1200" dirty="0"/>
          </a:p>
          <a:p>
            <a:pPr marL="0" indent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1920×1080×24 bit×30</a:t>
            </a:r>
            <a:endParaRPr lang="zh-TW" sz="1200" dirty="0"/>
          </a:p>
        </p:txBody>
      </p:sp>
      <p:sp>
        <p:nvSpPr>
          <p:cNvPr id="10" name="video stat 1"/>
          <p:cNvSpPr/>
          <p:nvPr/>
        </p:nvSpPr>
        <p:spPr>
          <a:xfrm>
            <a:off x="7086600" y="4663440"/>
            <a:ext cx="21945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 txBox="1"/>
          <p:nvPr/>
        </p:nvSpPr>
        <p:spPr>
          <a:xfrm>
            <a:off x="7223760" y="4736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4–8 Mbps</a:t>
            </a:r>
            <a:endParaRPr lang="zh-TW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5257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H.264 壓縮後的常見位元率</a:t>
            </a:r>
            <a:endParaRPr lang="zh-TW" sz="1200" dirty="0"/>
          </a:p>
        </p:txBody>
      </p:sp>
      <p:sp>
        <p:nvSpPr>
          <p:cNvPr id="17" name="video stat 2"/>
          <p:cNvSpPr/>
          <p:nvPr/>
        </p:nvSpPr>
        <p:spPr>
          <a:xfrm>
            <a:off x="9418320" y="4663440"/>
            <a:ext cx="21945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9555480" y="4736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×200–370</a:t>
            </a:r>
            <a:endParaRPr lang="zh-TW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555480" y="5257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壓縮比：影像必須在機上壓縮，才放得進無線鏈路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網路層：定址、NAT 與 Mesh 路由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問題一：蜂巢網路下，雲端「找不到」無人機</a:t>
            </a:r>
            <a:endParaRPr lang="zh-TW" sz="1600" dirty="0"/>
          </a:p>
        </p:txBody>
      </p:sp>
      <p:sp>
        <p:nvSpPr>
          <p:cNvPr id="5" name="nat box 0"/>
          <p:cNvSpPr/>
          <p:nvPr/>
        </p:nvSpPr>
        <p:spPr>
          <a:xfrm>
            <a:off x="548640" y="210312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無人機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私有 IP 10.x.x.x</a:t>
            </a:r>
            <a:endParaRPr lang="zh-TW" sz="1400" dirty="0"/>
          </a:p>
        </p:txBody>
      </p:sp>
      <p:sp>
        <p:nvSpPr>
          <p:cNvPr id="7" name="nat arrow 0"/>
          <p:cNvSpPr/>
          <p:nvPr/>
        </p:nvSpPr>
        <p:spPr>
          <a:xfrm>
            <a:off x="2185416" y="2532888"/>
            <a:ext cx="27432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nat box 1"/>
          <p:cNvSpPr/>
          <p:nvPr/>
        </p:nvSpPr>
        <p:spPr>
          <a:xfrm>
            <a:off x="2496312" y="210312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2542032" y="21031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電信 CGNAT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多用戶共用公網 IP</a:t>
            </a:r>
            <a:endParaRPr lang="zh-TW" sz="1400" dirty="0"/>
          </a:p>
        </p:txBody>
      </p:sp>
      <p:sp>
        <p:nvSpPr>
          <p:cNvPr id="10" name="nat arrow 1"/>
          <p:cNvSpPr/>
          <p:nvPr/>
        </p:nvSpPr>
        <p:spPr>
          <a:xfrm>
            <a:off x="4133088" y="2532888"/>
            <a:ext cx="27432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nat box 2"/>
          <p:cNvSpPr/>
          <p:nvPr/>
        </p:nvSpPr>
        <p:spPr>
          <a:xfrm>
            <a:off x="4443984" y="210312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489704" y="21031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網際網路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IP 路由</a:t>
            </a:r>
            <a:endParaRPr lang="zh-TW" sz="1400" dirty="0"/>
          </a:p>
        </p:txBody>
      </p:sp>
      <p:sp>
        <p:nvSpPr>
          <p:cNvPr id="13" name="nat arrow 2"/>
          <p:cNvSpPr/>
          <p:nvPr/>
        </p:nvSpPr>
        <p:spPr>
          <a:xfrm>
            <a:off x="6080760" y="2532888"/>
            <a:ext cx="27432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nat box 3"/>
          <p:cNvSpPr/>
          <p:nvPr/>
        </p:nvSpPr>
        <p:spPr>
          <a:xfrm>
            <a:off x="6391656" y="210312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1031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雲端 Broker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chemeClr val="bg1"/>
                </a:solidFill>
              </a:rPr>
              <a:t>公開 IP</a:t>
            </a:r>
            <a:endParaRPr lang="zh-TW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272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✓ 由內往外建立連線可以成功　</a:t>
            </a:r>
            <a:r>
              <a:rPr lang="zh-TW" altLang="en-US" sz="1300" b="1" dirty="0">
                <a:solidFill>
                  <a:schemeClr val="accent6"/>
                </a:solidFill>
              </a:rPr>
              <a:t>✕ 雲端無法主動連入：無人機沒有公開位址，CGNAT 也沒有轉送規則</a:t>
            </a:r>
            <a:endParaRPr lang="zh-TW" sz="1300" dirty="0"/>
          </a:p>
        </p:txBody>
      </p:sp>
      <p:sp>
        <p:nvSpPr>
          <p:cNvPr id="17" name="nat solutions"/>
          <p:cNvSpPr/>
          <p:nvPr/>
        </p:nvSpPr>
        <p:spPr>
          <a:xfrm>
            <a:off x="8321040" y="1645920"/>
            <a:ext cx="3291840" cy="2377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8503920" y="1755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常見解法</a:t>
            </a:r>
            <a:endParaRPr lang="zh-TW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148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bg1"/>
                </a:solidFill>
              </a:rPr>
              <a:t>無人機主動建立長連線（MQTT／WebSocket over TLS）</a:t>
            </a:r>
            <a:endParaRPr lang="zh-TW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bg1"/>
                </a:solidFill>
              </a:rPr>
              <a:t>VPN（WireGuard／IPsec）</a:t>
            </a:r>
            <a:endParaRPr lang="zh-TW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bg1"/>
                </a:solidFill>
              </a:rPr>
              <a:t>企業專網 APN、5G 專網</a:t>
            </a:r>
            <a:endParaRPr lang="zh-TW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bg1"/>
                </a:solidFill>
              </a:rPr>
              <a:t>IPv6 端到端定址</a:t>
            </a:r>
            <a:endParaRPr lang="zh-TW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問題二：群飛 Mesh 網路，拓撲隨飛行不斷改變，路由要怎麼收斂？</a:t>
            </a:r>
            <a:endParaRPr lang="zh-TW" sz="1600" dirty="0"/>
          </a:p>
        </p:txBody>
      </p:sp>
      <p:sp>
        <p:nvSpPr>
          <p:cNvPr id="21" name="routing 0"/>
          <p:cNvSpPr/>
          <p:nvPr/>
        </p:nvSpPr>
        <p:spPr>
          <a:xfrm>
            <a:off x="548640" y="4645152"/>
            <a:ext cx="5394960" cy="1527048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OLSR　主動式（Proactive）</a:t>
            </a:r>
            <a:endParaRPr lang="zh-TW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56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Link-State 概念，類似 OSPF</a:t>
            </a:r>
            <a:endParaRPr lang="zh-TW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376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定期廣播鄰居與拓撲，隨時有現成路徑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延遲低；但控制訊息會持續佔用頻寬</a:t>
            </a:r>
            <a:endParaRPr lang="zh-TW" sz="1400" dirty="0"/>
          </a:p>
        </p:txBody>
      </p:sp>
      <p:sp>
        <p:nvSpPr>
          <p:cNvPr id="25" name="routing 1"/>
          <p:cNvSpPr/>
          <p:nvPr/>
        </p:nvSpPr>
        <p:spPr>
          <a:xfrm>
            <a:off x="6217920" y="4645152"/>
            <a:ext cx="5394960" cy="1527048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4652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AODV　被動式（Reactive）</a:t>
            </a:r>
            <a:endParaRPr lang="zh-TW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056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Distance-Vector 概念，按需尋路</a:t>
            </a:r>
            <a:endParaRPr lang="zh-TW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376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要傳資料時才廣播尋路請求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省頻寬；但第一個封包要等找到路</a:t>
            </a:r>
            <a:endParaRPr lang="zh-TW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鏈結／實體層：無線鏈路預算</a:t>
            </a:r>
            <a:endParaRPr lang="en-US" sz="3400" dirty="0"/>
          </a:p>
        </p:txBody>
      </p:sp>
      <p:graphicFrame>
        <p:nvGraphicFramePr>
          <p:cNvPr id="4" name="fspl chart"/>
          <p:cNvGraphicFramePr/>
          <p:nvPr/>
        </p:nvGraphicFramePr>
        <p:xfrm>
          <a:off x="548640" y="160020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spl formula"/>
          <p:cNvSpPr/>
          <p:nvPr/>
        </p:nvSpPr>
        <p:spPr>
          <a:xfrm>
            <a:off x="548640" y="475488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4800600"/>
            <a:ext cx="5166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FSPL(dB) = 20·log₁₀(d_km) + 20·log₁₀(f_MHz) + 32.44</a:t>
            </a:r>
            <a:endParaRPr lang="zh-TW" sz="1400" dirty="0"/>
          </a:p>
          <a:p>
            <a:pPr marL="0" indent="0">
              <a:spcAft>
                <a:spcPts val="300"/>
              </a:spcAft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鏈路預算：Pr = Pt + Gt + Gr − FSPL − 其他損耗，Pr 須高於接收靈敏度</a:t>
            </a:r>
            <a:endParaRPr lang="zh-TW" sz="1400" dirty="0"/>
          </a:p>
          <a:p>
            <a:pPr marL="0" indent="0">
              <a:spcAft>
                <a:spcPts val="300"/>
              </a:spcAft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距離 ×10 → 多損失 20 dB；2.4 → 5.8 GHz → 多損失約 7.7 dB</a:t>
            </a:r>
            <a:endParaRPr lang="zh-TW" sz="1400" dirty="0"/>
          </a:p>
        </p:txBody>
      </p:sp>
      <p:sp>
        <p:nvSpPr>
          <p:cNvPr id="7" name="phy card 0"/>
          <p:cNvSpPr/>
          <p:nvPr/>
        </p:nvSpPr>
        <p:spPr>
          <a:xfrm>
            <a:off x="6309360" y="1645920"/>
            <a:ext cx="5303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phy card 0 circle"/>
          <p:cNvSpPr/>
          <p:nvPr/>
        </p:nvSpPr>
        <p:spPr>
          <a:xfrm>
            <a:off x="6492240" y="184708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phy card 0 icon" descr="TbWif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1977847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773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頻段取捨</a:t>
            </a:r>
            <a:endParaRPr lang="zh-TW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212140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2.4 GHz 傳得遠、繞射佳，但與 Wi-Fi、藍牙擁擠；5.8 GHz 頻寬大、干擾少，距離較短 → 圖傳常雙頻自動切換</a:t>
            </a:r>
            <a:endParaRPr lang="zh-TW" sz="1300" dirty="0"/>
          </a:p>
        </p:txBody>
      </p:sp>
      <p:sp>
        <p:nvSpPr>
          <p:cNvPr id="12" name="phy card 1"/>
          <p:cNvSpPr/>
          <p:nvPr/>
        </p:nvSpPr>
        <p:spPr>
          <a:xfrm>
            <a:off x="6309360" y="3200400"/>
            <a:ext cx="5303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phy card 1 circle"/>
          <p:cNvSpPr/>
          <p:nvPr/>
        </p:nvSpPr>
        <p:spPr>
          <a:xfrm>
            <a:off x="6492240" y="340156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phy card 1 icon" descr="Tb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353232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33284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菲涅耳區與視距</a:t>
            </a:r>
            <a:endParaRPr lang="zh-TW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367588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10 km、2.4 GHz 時，第一菲涅耳區中點半徑約 17.7 m；地形、樹木或人體擋住就會掉訊 → 天線架高、避開遮蔽</a:t>
            </a:r>
            <a:endParaRPr lang="zh-TW" sz="1300" dirty="0"/>
          </a:p>
        </p:txBody>
      </p:sp>
      <p:sp>
        <p:nvSpPr>
          <p:cNvPr id="17" name="phy card 2"/>
          <p:cNvSpPr/>
          <p:nvPr/>
        </p:nvSpPr>
        <p:spPr>
          <a:xfrm>
            <a:off x="6309360" y="4754880"/>
            <a:ext cx="5303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phy card 2 circle"/>
          <p:cNvSpPr/>
          <p:nvPr/>
        </p:nvSpPr>
        <p:spPr>
          <a:xfrm>
            <a:off x="6492240" y="49560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phy card 2 icon" descr="TbNetwor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508680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69480" y="48828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多重存取</a:t>
            </a:r>
            <a:endParaRPr lang="zh-TW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269480" y="523036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Wi-Fi 用 CSMA/CA；群飛時節點彼此聽不到 → 隱藏終端問題，以 RTS/CTS 緩解；專有圖傳多用 TDMA／跳頻降低碰撞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空中鏈路技術比較：沒有一種能通吃</a:t>
            </a:r>
            <a:endParaRPr lang="en-US" sz="3400" dirty="0"/>
          </a:p>
        </p:txBody>
      </p:sp>
      <p:graphicFrame>
        <p:nvGraphicFramePr>
          <p:cNvPr id="17" name="link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技術</a:t>
                      </a:r>
                      <a:endParaRPr lang="en-US" sz="14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典型範圍</a:t>
                      </a:r>
                      <a:endParaRPr lang="en-US" sz="14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頻寬</a:t>
                      </a:r>
                      <a:endParaRPr lang="en-US" sz="14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延遲</a:t>
                      </a:r>
                      <a:endParaRPr lang="en-US" sz="14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優點</a:t>
                      </a:r>
                      <a:endParaRPr lang="en-US" sz="14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限制</a:t>
                      </a:r>
                      <a:endParaRPr lang="en-US" sz="14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2.4／5.8 GHz 專有圖傳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數公里～約 20 km（視距）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高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低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成熟、低延遲、影像品質好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需視距，易受同頻干擾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Wi-Fi（802.11）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數百公尺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高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低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便宜、手機可直連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距離短、易被干擾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4G／5G 蜂巢網路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有基地台覆蓋即可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中～高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中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超視距、易擴展、可接雲端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低空覆蓋盲區、跨基地台干擾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低軌衛星（LEO）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全球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中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較高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偏遠山區、海上可用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終端重量、耗電與成本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Mesh 自組網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隨節點數延伸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中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中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免基礎建設，適合群飛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路由與頻寬管理複雜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光纖導控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受線長限制（約 10–20 km）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高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極低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不發射射頻，無法被干擾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線材重量、纏繞、機動性差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註：範圍與性能依機型、頻段、天線與當地法規而異，表中為相對比較。實務上常「多鏈路備援」，例如射頻為主、蜂巢網路為輔。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蜂巢網路上天：5G／5G-A 與低空覆蓋</a:t>
            </a:r>
            <a:endParaRPr lang="en-US" sz="3400" dirty="0"/>
          </a:p>
        </p:txBody>
      </p:sp>
      <p:sp>
        <p:nvSpPr>
          <p:cNvPr id="4" name="band 300 m 以上"/>
          <p:cNvSpPr/>
          <p:nvPr/>
        </p:nvSpPr>
        <p:spPr>
          <a:xfrm>
            <a:off x="548640" y="1645920"/>
            <a:ext cx="4937760" cy="123444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band 300 m 以上 circle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band 300 m 以上 icon" descr="TbSatell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0711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300 m 以上</a:t>
            </a:r>
            <a:endParaRPr lang="zh-TW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67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低軌衛星補足覆蓋，延遲較高、頻寬有限</a:t>
            </a:r>
            <a:endParaRPr lang="zh-TW" sz="1400" dirty="0"/>
          </a:p>
        </p:txBody>
      </p:sp>
      <p:sp>
        <p:nvSpPr>
          <p:cNvPr id="9" name="band 300 m 以下"/>
          <p:cNvSpPr/>
          <p:nvPr/>
        </p:nvSpPr>
        <p:spPr>
          <a:xfrm>
            <a:off x="548640" y="3017520"/>
            <a:ext cx="4937760" cy="1234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band 300 m 以下 circle"/>
          <p:cNvSpPr/>
          <p:nvPr/>
        </p:nvSpPr>
        <p:spPr>
          <a:xfrm>
            <a:off x="777240" y="32918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band 300 m 以下 icon" descr="TbAntenn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4427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300 m 以下</a:t>
            </a:r>
            <a:endParaRPr lang="zh-TW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538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5G／5G-A 基地台為主；需上傾波束補低空盲區</a:t>
            </a:r>
            <a:endParaRPr lang="zh-TW" sz="1400" dirty="0"/>
          </a:p>
        </p:txBody>
      </p:sp>
      <p:sp>
        <p:nvSpPr>
          <p:cNvPr id="14" name="band 局部區域"/>
          <p:cNvSpPr/>
          <p:nvPr/>
        </p:nvSpPr>
        <p:spPr>
          <a:xfrm>
            <a:off x="548640" y="4389120"/>
            <a:ext cx="4937760" cy="1234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band 局部區域 circle"/>
          <p:cNvSpPr/>
          <p:nvPr/>
        </p:nvSpPr>
        <p:spPr>
          <a:xfrm>
            <a:off x="777240" y="46634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band 局部區域 icon" descr="TbNet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143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526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局部區域</a:t>
            </a:r>
            <a:endParaRPr lang="zh-TW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9103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Mesh 自組網：機與機互相中繼</a:t>
            </a:r>
            <a:endParaRPr lang="zh-TW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760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accent4"/>
                </a:solidFill>
              </a:rPr>
              <a:t>中國工信部 2026/6《低空智聯網技術架構白皮書》：以「5G-A＋衛星＋自組網」三層融合為低空網路技術路線</a:t>
            </a:r>
            <a:endParaRPr lang="zh-TW" sz="1200" dirty="0"/>
          </a:p>
        </p:txBody>
      </p:sp>
      <p:sp>
        <p:nvSpPr>
          <p:cNvPr id="20" name="cell card 挑戰"/>
          <p:cNvSpPr/>
          <p:nvPr/>
        </p:nvSpPr>
        <p:spPr>
          <a:xfrm>
            <a:off x="5852160" y="1645920"/>
            <a:ext cx="576072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cell card 挑戰 circle"/>
          <p:cNvSpPr/>
          <p:nvPr/>
        </p:nvSpPr>
        <p:spPr>
          <a:xfrm>
            <a:off x="6053328" y="1847088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2" name="cell card 挑戰 icon" descr="TbAlertTriang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087" y="1977847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12280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挑戰</a:t>
            </a:r>
            <a:endParaRPr lang="zh-TW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812280" y="224942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基地台天線向下傾斜，為地面設計 → 低空出現覆蓋盲區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空中視野開闊，同時「看到」多個基地台 → 干擾增加、換手頻繁</a:t>
            </a:r>
            <a:endParaRPr lang="zh-TW" sz="1400" dirty="0"/>
          </a:p>
        </p:txBody>
      </p:sp>
      <p:sp>
        <p:nvSpPr>
          <p:cNvPr id="25" name="cell card 3GPP 標準進展"/>
          <p:cNvSpPr/>
          <p:nvPr/>
        </p:nvSpPr>
        <p:spPr>
          <a:xfrm>
            <a:off x="5852160" y="3191256"/>
            <a:ext cx="576072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cell card 3GPP 標準進展 circle"/>
          <p:cNvSpPr/>
          <p:nvPr/>
        </p:nvSpPr>
        <p:spPr>
          <a:xfrm>
            <a:off x="6053328" y="3392424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7" name="cell card 3GPP 標準進展 icon" descr="TbBoo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087" y="3523183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1228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3GPP 標準進展</a:t>
            </a:r>
            <a:endParaRPr lang="zh-TW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12280" y="3794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Rel-15：研究 LTE 支援空中終端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Rel-17／18：納入 UAS 識別與追蹤、高度與航線回報，NR 支援 UAV</a:t>
            </a:r>
            <a:endParaRPr lang="zh-TW" sz="1400" dirty="0"/>
          </a:p>
        </p:txBody>
      </p:sp>
      <p:sp>
        <p:nvSpPr>
          <p:cNvPr id="30" name="cell card 5G-A 通感一體（ISAC）"/>
          <p:cNvSpPr/>
          <p:nvPr/>
        </p:nvSpPr>
        <p:spPr>
          <a:xfrm>
            <a:off x="5852160" y="4736592"/>
            <a:ext cx="576072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cell card 5G-A 通感一體（ISAC） circle"/>
          <p:cNvSpPr/>
          <p:nvPr/>
        </p:nvSpPr>
        <p:spPr>
          <a:xfrm>
            <a:off x="6053328" y="493776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2" name="cell card 5G-A 通感一體（ISAC） icon" descr="TbRad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087" y="5068519"/>
            <a:ext cx="332842" cy="33284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12280" y="4956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5G-A 通感一體（ISAC）</a:t>
            </a:r>
            <a:endParaRPr lang="zh-TW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6812280" y="53400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基地台同時通訊與感測，「一網兩用」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可偵測未回報身分的無人機，支援低空監管</a:t>
            </a:r>
            <a:endParaRPr lang="zh-TW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行動性管理：高速移動下的換手</a:t>
            </a:r>
            <a:endParaRPr lang="en-US" sz="3400" dirty="0"/>
          </a:p>
        </p:txBody>
      </p:sp>
      <p:sp>
        <p:nvSpPr>
          <p:cNvPr id="4" name="upf anchor"/>
          <p:cNvSpPr/>
          <p:nvPr/>
        </p:nvSpPr>
        <p:spPr>
          <a:xfrm>
            <a:off x="1828800" y="1645920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1828800" y="1645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5G 核心網 UPF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PDU Session 錨點：換手時 IP 位址不變</a:t>
            </a:r>
            <a:endParaRPr lang="zh-TW" sz="1400" dirty="0"/>
          </a:p>
        </p:txBody>
      </p:sp>
      <p:sp>
        <p:nvSpPr>
          <p:cNvPr id="6" name="backhaul 0"/>
          <p:cNvSpPr/>
          <p:nvPr/>
        </p:nvSpPr>
        <p:spPr>
          <a:xfrm flipH="1">
            <a:off x="1188720" y="2331720"/>
            <a:ext cx="274320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gnb 0 circle"/>
          <p:cNvSpPr/>
          <p:nvPr/>
        </p:nvSpPr>
        <p:spPr>
          <a:xfrm>
            <a:off x="822960" y="2788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gnb 0 icon" descr="TbAnten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949854"/>
            <a:ext cx="409651" cy="4096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27632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基地台 A</a:t>
            </a:r>
            <a:endParaRPr lang="zh-TW" sz="1300" dirty="0"/>
          </a:p>
        </p:txBody>
      </p:sp>
      <p:sp>
        <p:nvSpPr>
          <p:cNvPr id="10" name="backhaul 1"/>
          <p:cNvSpPr/>
          <p:nvPr/>
        </p:nvSpPr>
        <p:spPr>
          <a:xfrm>
            <a:off x="3931920" y="2331720"/>
            <a:ext cx="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gnb 1 circle"/>
          <p:cNvSpPr/>
          <p:nvPr/>
        </p:nvSpPr>
        <p:spPr>
          <a:xfrm>
            <a:off x="3566160" y="2788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gnb 1 icon" descr="TbAnten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094" y="294985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70832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基地台 B</a:t>
            </a:r>
            <a:endParaRPr lang="zh-TW" sz="1300" dirty="0"/>
          </a:p>
        </p:txBody>
      </p:sp>
      <p:sp>
        <p:nvSpPr>
          <p:cNvPr id="14" name="backhaul 2"/>
          <p:cNvSpPr/>
          <p:nvPr/>
        </p:nvSpPr>
        <p:spPr>
          <a:xfrm>
            <a:off x="3931920" y="2331720"/>
            <a:ext cx="274320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gnb 2 circle"/>
          <p:cNvSpPr/>
          <p:nvPr/>
        </p:nvSpPr>
        <p:spPr>
          <a:xfrm>
            <a:off x="6309360" y="2788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gnb 2 icon" descr="TbAnten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294985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14032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基地台 C</a:t>
            </a:r>
            <a:endParaRPr lang="zh-TW" sz="1300" dirty="0"/>
          </a:p>
        </p:txBody>
      </p:sp>
      <p:sp>
        <p:nvSpPr>
          <p:cNvPr id="18" name="flight path"/>
          <p:cNvSpPr/>
          <p:nvPr/>
        </p:nvSpPr>
        <p:spPr>
          <a:xfrm>
            <a:off x="731520" y="3977640"/>
            <a:ext cx="74980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moving drone circle"/>
          <p:cNvSpPr/>
          <p:nvPr/>
        </p:nvSpPr>
        <p:spPr>
          <a:xfrm>
            <a:off x="4846320" y="36758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moving drone icon" descr="TbDr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091" y="3808659"/>
            <a:ext cx="337962" cy="3379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43159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飛行中依序換手 A → B → C；IP 由錨點維持，上層 TCP／MQTT 連線不中斷</a:t>
            </a:r>
            <a:endParaRPr lang="zh-TW" sz="1300" dirty="0"/>
          </a:p>
        </p:txBody>
      </p:sp>
      <p:sp>
        <p:nvSpPr>
          <p:cNvPr id="22" name="textbook mobility"/>
          <p:cNvSpPr/>
          <p:nvPr/>
        </p:nvSpPr>
        <p:spPr>
          <a:xfrm>
            <a:off x="8503920" y="1645920"/>
            <a:ext cx="3108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7"/>
          <p:cNvSpPr txBox="1"/>
          <p:nvPr/>
        </p:nvSpPr>
        <p:spPr>
          <a:xfrm>
            <a:off x="8686800" y="1755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設計重點</a:t>
            </a:r>
            <a:endParaRPr lang="zh-TW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686800" y="2176272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300" b="1" dirty="0">
                <a:solidFill>
                  <a:schemeClr val="tx1"/>
                </a:solidFill>
              </a:rPr>
              <a:t>換手：</a:t>
            </a:r>
            <a:r>
              <a:rPr lang="zh-TW" altLang="en-US" sz="1300" dirty="0">
                <a:solidFill>
                  <a:schemeClr val="tx1"/>
                </a:solidFill>
              </a:rPr>
              <a:t>連線從一個基地台轉到另一個</a:t>
            </a:r>
            <a:endParaRPr lang="zh-TW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300" b="1" dirty="0">
                <a:solidFill>
                  <a:schemeClr val="tx1"/>
                </a:solidFill>
              </a:rPr>
              <a:t>錨點：</a:t>
            </a:r>
            <a:r>
              <a:rPr lang="zh-TW" altLang="en-US" sz="1300" dirty="0">
                <a:solidFill>
                  <a:schemeClr val="tx1"/>
                </a:solidFill>
              </a:rPr>
              <a:t>類似 Mobile IP 的 home agent，對外位址保持不變</a:t>
            </a:r>
            <a:endParaRPr lang="zh-TW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300" b="1" dirty="0">
                <a:solidFill>
                  <a:schemeClr val="tx1"/>
                </a:solidFill>
              </a:rPr>
              <a:t>間接路由：</a:t>
            </a:r>
            <a:r>
              <a:rPr lang="zh-TW" altLang="en-US" sz="1300" dirty="0">
                <a:solidFill>
                  <a:schemeClr val="tx1"/>
                </a:solidFill>
              </a:rPr>
              <a:t>流量先到錨點再轉送</a:t>
            </a:r>
            <a:endParaRPr lang="zh-TW" sz="1400" dirty="0"/>
          </a:p>
        </p:txBody>
      </p:sp>
      <p:sp>
        <p:nvSpPr>
          <p:cNvPr id="25" name="mob card 挑戰"/>
          <p:cNvSpPr/>
          <p:nvPr/>
        </p:nvSpPr>
        <p:spPr>
          <a:xfrm>
            <a:off x="548640" y="4681728"/>
            <a:ext cx="3511296" cy="1490472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mob tag 挑戰"/>
          <p:cNvSpPr/>
          <p:nvPr/>
        </p:nvSpPr>
        <p:spPr>
          <a:xfrm>
            <a:off x="731520" y="480060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1"/>
          <p:cNvSpPr txBox="1"/>
          <p:nvPr/>
        </p:nvSpPr>
        <p:spPr>
          <a:xfrm>
            <a:off x="731520" y="4800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挑戰</a:t>
            </a:r>
            <a:endParaRPr lang="zh-TW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31520" y="52578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高空同時看到多個基地台，訊號強度相近 → 換手頻繁、乒乓效應（ping-pong）</a:t>
            </a:r>
            <a:endParaRPr lang="zh-TW" sz="1300" dirty="0"/>
          </a:p>
        </p:txBody>
      </p:sp>
      <p:sp>
        <p:nvSpPr>
          <p:cNvPr id="29" name="mob card 標準對策"/>
          <p:cNvSpPr/>
          <p:nvPr/>
        </p:nvSpPr>
        <p:spPr>
          <a:xfrm>
            <a:off x="4325112" y="4681728"/>
            <a:ext cx="3511296" cy="1490472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mob tag 標準對策"/>
          <p:cNvSpPr/>
          <p:nvPr/>
        </p:nvSpPr>
        <p:spPr>
          <a:xfrm>
            <a:off x="4507992" y="480060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5"/>
          <p:cNvSpPr txBox="1"/>
          <p:nvPr/>
        </p:nvSpPr>
        <p:spPr>
          <a:xfrm>
            <a:off x="4507992" y="4800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標準對策</a:t>
            </a:r>
            <a:endParaRPr lang="zh-TW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4507992" y="52578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Rel-16 條件式換手（CHO）預先備妥目標基地台；Rel-17／18 回報高度與航線，讓網路提前規劃</a:t>
            </a:r>
            <a:endParaRPr lang="zh-TW" sz="1300" dirty="0"/>
          </a:p>
        </p:txBody>
      </p:sp>
      <p:sp>
        <p:nvSpPr>
          <p:cNvPr id="33" name="mob card 網路切片"/>
          <p:cNvSpPr/>
          <p:nvPr/>
        </p:nvSpPr>
        <p:spPr>
          <a:xfrm>
            <a:off x="8101584" y="4681728"/>
            <a:ext cx="3511296" cy="1490472"/>
          </a:xfrm>
          <a:prstGeom prst="roundRect">
            <a:avLst>
              <a:gd name="adj" fmla="val 73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mob tag 網路切片"/>
          <p:cNvSpPr/>
          <p:nvPr/>
        </p:nvSpPr>
        <p:spPr>
          <a:xfrm>
            <a:off x="8284464" y="480060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29"/>
          <p:cNvSpPr txBox="1"/>
          <p:nvPr/>
        </p:nvSpPr>
        <p:spPr>
          <a:xfrm>
            <a:off x="8284464" y="4800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網路切片</a:t>
            </a:r>
            <a:endParaRPr lang="zh-TW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284464" y="52578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同一張 5G 網路切出不同切片：URLLC 承載 C2、eMBB 承載影像，各自保證延遲與頻寬</a:t>
            </a:r>
            <a:endParaRPr lang="zh-TW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　通訊與網路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Remote ID 與 UTM：天空的車牌與交通管理</a:t>
            </a:r>
            <a:endParaRPr lang="en-US" sz="3400" dirty="0"/>
          </a:p>
        </p:txBody>
      </p:sp>
      <p:sp>
        <p:nvSpPr>
          <p:cNvPr id="4" name="remote id card"/>
          <p:cNvSpPr/>
          <p:nvPr/>
        </p:nvSpPr>
        <p:spPr>
          <a:xfrm>
            <a:off x="548640" y="1645920"/>
            <a:ext cx="502920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remote id circle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remote id icon" descr="TbFl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3" y="204551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38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Remote ID：數位車牌</a:t>
            </a:r>
            <a:endParaRPr lang="zh-TW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50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讓周邊的人與執法單位知道「這台是誰的、在哪裡」</a:t>
            </a:r>
            <a:endParaRPr lang="zh-TW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廣播式：</a:t>
            </a:r>
            <a:r>
              <a:rPr lang="zh-TW" altLang="en-US" sz="1500" dirty="0">
                <a:solidFill>
                  <a:schemeClr val="tx1"/>
                </a:solidFill>
              </a:rPr>
              <a:t>機體以藍牙／Wi-Fi 直接廣播，手機即可接收</a:t>
            </a:r>
            <a:endParaRPr lang="zh-TW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網路式：</a:t>
            </a:r>
            <a:r>
              <a:rPr lang="zh-TW" altLang="en-US" sz="1500" dirty="0">
                <a:solidFill>
                  <a:schemeClr val="tx1"/>
                </a:solidFill>
              </a:rPr>
              <a:t>透過網際網路回報給服務供應商</a:t>
            </a:r>
            <a:endParaRPr lang="zh-TW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內容：</a:t>
            </a:r>
            <a:r>
              <a:rPr lang="zh-TW" altLang="en-US" sz="1500" dirty="0">
                <a:solidFill>
                  <a:schemeClr val="tx1"/>
                </a:solidFill>
              </a:rPr>
              <a:t>識別碼、位置、高度、速度、操作者位置、時間</a:t>
            </a:r>
            <a:endParaRPr lang="zh-TW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美國：</a:t>
            </a:r>
            <a:r>
              <a:rPr lang="zh-TW" altLang="en-US" sz="1500" dirty="0">
                <a:solidFill>
                  <a:schemeClr val="tx1"/>
                </a:solidFill>
              </a:rPr>
              <a:t>2023 年起強制；Part 108 草案下，多數 BVLOS 授權以 Standard Remote ID 為條件</a:t>
            </a:r>
            <a:endParaRPr lang="zh-TW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台灣：</a:t>
            </a:r>
            <a:r>
              <a:rPr lang="zh-TW" altLang="en-US" sz="1500" dirty="0">
                <a:solidFill>
                  <a:schemeClr val="tx1"/>
                </a:solidFill>
              </a:rPr>
              <a:t>2026 起推動 Remote ID 與電子圍籬新制</a:t>
            </a:r>
            <a:endParaRPr lang="zh-TW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UTM（UAS Traffic Management）運作概念</a:t>
            </a:r>
            <a:endParaRPr lang="zh-TW" sz="1600" dirty="0"/>
          </a:p>
        </p:txBody>
      </p:sp>
      <p:sp>
        <p:nvSpPr>
          <p:cNvPr id="11" name="utm operator"/>
          <p:cNvSpPr/>
          <p:nvPr/>
        </p:nvSpPr>
        <p:spPr>
          <a:xfrm>
            <a:off x="5943600" y="2240280"/>
            <a:ext cx="1691640" cy="9144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 txBox="1"/>
          <p:nvPr/>
        </p:nvSpPr>
        <p:spPr>
          <a:xfrm>
            <a:off x="5989320" y="2240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操作者／無人機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提交飛行計畫</a:t>
            </a:r>
            <a:endParaRPr lang="zh-TW" sz="1400" dirty="0"/>
          </a:p>
        </p:txBody>
      </p:sp>
      <p:sp>
        <p:nvSpPr>
          <p:cNvPr id="13" name="utm uss a"/>
          <p:cNvSpPr/>
          <p:nvPr/>
        </p:nvSpPr>
        <p:spPr>
          <a:xfrm>
            <a:off x="7936992" y="2240280"/>
            <a:ext cx="16916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7982712" y="2240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USS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UTM 服務供應商</a:t>
            </a:r>
            <a:endParaRPr lang="zh-TW" sz="1400" dirty="0"/>
          </a:p>
        </p:txBody>
      </p:sp>
      <p:sp>
        <p:nvSpPr>
          <p:cNvPr id="15" name="utm authority"/>
          <p:cNvSpPr/>
          <p:nvPr/>
        </p:nvSpPr>
        <p:spPr>
          <a:xfrm>
            <a:off x="9921240" y="2240280"/>
            <a:ext cx="169164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9966960" y="2240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主管機關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如 FAA FIMS</a:t>
            </a:r>
            <a:endParaRPr lang="zh-TW" sz="1400" dirty="0"/>
          </a:p>
        </p:txBody>
      </p:sp>
      <p:sp>
        <p:nvSpPr>
          <p:cNvPr id="17" name="utm uss b"/>
          <p:cNvSpPr/>
          <p:nvPr/>
        </p:nvSpPr>
        <p:spPr>
          <a:xfrm>
            <a:off x="7936992" y="3657600"/>
            <a:ext cx="16916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7982712" y="36576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其他 USS</a:t>
            </a:r>
            <a:endParaRPr lang="zh-TW" sz="14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交換飛行意圖</a:t>
            </a:r>
            <a:endParaRPr lang="zh-TW" sz="1400" dirty="0"/>
          </a:p>
        </p:txBody>
      </p:sp>
      <p:sp>
        <p:nvSpPr>
          <p:cNvPr id="19" name="utm a1"/>
          <p:cNvSpPr/>
          <p:nvPr/>
        </p:nvSpPr>
        <p:spPr>
          <a:xfrm>
            <a:off x="7662672" y="2697480"/>
            <a:ext cx="24688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utm a2"/>
          <p:cNvSpPr/>
          <p:nvPr/>
        </p:nvSpPr>
        <p:spPr>
          <a:xfrm>
            <a:off x="9656064" y="2697480"/>
            <a:ext cx="23774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utm a3"/>
          <p:cNvSpPr/>
          <p:nvPr/>
        </p:nvSpPr>
        <p:spPr>
          <a:xfrm>
            <a:off x="8778240" y="3182112"/>
            <a:ext cx="0" cy="44805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utm fn 0"/>
          <p:cNvSpPr/>
          <p:nvPr/>
        </p:nvSpPr>
        <p:spPr>
          <a:xfrm>
            <a:off x="5943600" y="4846320"/>
            <a:ext cx="27432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 txBox="1"/>
          <p:nvPr/>
        </p:nvSpPr>
        <p:spPr>
          <a:xfrm>
            <a:off x="6080760" y="48463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飛行計畫申報與核准</a:t>
            </a:r>
            <a:endParaRPr lang="zh-TW" sz="1400" dirty="0"/>
          </a:p>
        </p:txBody>
      </p:sp>
      <p:sp>
        <p:nvSpPr>
          <p:cNvPr id="24" name="utm fn 1"/>
          <p:cNvSpPr/>
          <p:nvPr/>
        </p:nvSpPr>
        <p:spPr>
          <a:xfrm>
            <a:off x="8823960" y="4846320"/>
            <a:ext cx="27432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 txBox="1"/>
          <p:nvPr/>
        </p:nvSpPr>
        <p:spPr>
          <a:xfrm>
            <a:off x="8961120" y="48463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戰略性衝突消解</a:t>
            </a:r>
            <a:endParaRPr lang="zh-TW" sz="1400" dirty="0"/>
          </a:p>
        </p:txBody>
      </p:sp>
      <p:sp>
        <p:nvSpPr>
          <p:cNvPr id="26" name="utm fn 2"/>
          <p:cNvSpPr/>
          <p:nvPr/>
        </p:nvSpPr>
        <p:spPr>
          <a:xfrm>
            <a:off x="5943600" y="5504688"/>
            <a:ext cx="27432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80760" y="55046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空域限制即時通知</a:t>
            </a:r>
            <a:endParaRPr lang="zh-TW" sz="1400" dirty="0"/>
          </a:p>
        </p:txBody>
      </p:sp>
      <p:sp>
        <p:nvSpPr>
          <p:cNvPr id="28" name="utm fn 3"/>
          <p:cNvSpPr/>
          <p:nvPr/>
        </p:nvSpPr>
        <p:spPr>
          <a:xfrm>
            <a:off x="8823960" y="5504688"/>
            <a:ext cx="27432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 txBox="1"/>
          <p:nvPr/>
        </p:nvSpPr>
        <p:spPr>
          <a:xfrm>
            <a:off x="8961120" y="55046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偵測與避讓 DAA</a:t>
            </a:r>
            <a:endParaRPr lang="zh-TW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　應用與案例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案例一：Walmart × Wing／Zipline 無人機配送</a:t>
            </a:r>
            <a:endParaRPr lang="en-US" sz="3400" dirty="0"/>
          </a:p>
        </p:txBody>
      </p:sp>
      <p:sp>
        <p:nvSpPr>
          <p:cNvPr id="4" name="stat 0"/>
          <p:cNvSpPr/>
          <p:nvPr/>
        </p:nvSpPr>
        <p:spPr>
          <a:xfrm>
            <a:off x="548640" y="16459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100 萬+</a:t>
            </a:r>
            <a:endParaRPr lang="zh-TW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累計配送次數（2026/5 宣布）</a:t>
            </a:r>
            <a:endParaRPr lang="zh-TW" sz="1300" dirty="0"/>
          </a:p>
        </p:txBody>
      </p:sp>
      <p:sp>
        <p:nvSpPr>
          <p:cNvPr id="7" name="stat 1"/>
          <p:cNvSpPr/>
          <p:nvPr/>
        </p:nvSpPr>
        <p:spPr>
          <a:xfrm>
            <a:off x="3383280" y="16459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361188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tx1"/>
                </a:solidFill>
              </a:rPr>
              <a:t>40%</a:t>
            </a:r>
            <a:endParaRPr lang="zh-TW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其中約四成在單一季完成，成長加速</a:t>
            </a:r>
            <a:endParaRPr lang="zh-TW" sz="1300" dirty="0"/>
          </a:p>
        </p:txBody>
      </p:sp>
      <p:sp>
        <p:nvSpPr>
          <p:cNvPr id="10" name="stat 2"/>
          <p:cNvSpPr/>
          <p:nvPr/>
        </p:nvSpPr>
        <p:spPr>
          <a:xfrm>
            <a:off x="548640" y="34290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tx1"/>
                </a:solidFill>
              </a:rPr>
              <a:t>66 店</a:t>
            </a:r>
            <a:endParaRPr lang="zh-TW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分布 4 州、5 大都會區</a:t>
            </a:r>
            <a:endParaRPr lang="zh-TW" sz="1300" dirty="0"/>
          </a:p>
        </p:txBody>
      </p:sp>
      <p:sp>
        <p:nvSpPr>
          <p:cNvPr id="13" name="stat 3"/>
          <p:cNvSpPr/>
          <p:nvPr/>
        </p:nvSpPr>
        <p:spPr>
          <a:xfrm>
            <a:off x="3383280" y="34290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361188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tx1"/>
                </a:solidFill>
              </a:rPr>
              <a:t>23 分鐘</a:t>
            </a:r>
            <a:endParaRPr lang="zh-TW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從下單到送達的平均時間</a:t>
            </a:r>
            <a:endParaRPr lang="zh-TW" sz="1300" dirty="0"/>
          </a:p>
        </p:txBody>
      </p:sp>
      <p:graphicFrame>
        <p:nvGraphicFramePr>
          <p:cNvPr id="16" name="payload chart"/>
          <p:cNvGraphicFramePr/>
          <p:nvPr/>
        </p:nvGraphicFramePr>
        <p:xfrm>
          <a:off x="6355080" y="1600200"/>
          <a:ext cx="5257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case takeaway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觀察　</a:t>
            </a:r>
            <a:r>
              <a:rPr lang="zh-TW" altLang="en-US" sz="1400" dirty="0">
                <a:solidFill>
                  <a:schemeClr val="bg1"/>
                </a:solidFill>
              </a:rPr>
              <a:t>Wing 規劃 2027 年擴展至 270+ 家門市；2026/7 一架 Zipline 配送機在德州啟動緊急降落傘、無人受傷——規模化的前提是安全冗餘設計與 BVLOS 法規。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　應用與案例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案例二：台灣無人機產業與「非紅供應鏈」</a:t>
            </a:r>
            <a:endParaRPr lang="en-US" sz="3400" dirty="0"/>
          </a:p>
        </p:txBody>
      </p:sp>
      <p:graphicFrame>
        <p:nvGraphicFramePr>
          <p:cNvPr id="4" name="taiwan output chart"/>
          <p:cNvGraphicFramePr/>
          <p:nvPr/>
        </p:nvGraphicFramePr>
        <p:xfrm>
          <a:off x="548640" y="1600200"/>
          <a:ext cx="53949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w stat 0"/>
          <p:cNvSpPr/>
          <p:nvPr/>
        </p:nvSpPr>
        <p:spPr>
          <a:xfrm>
            <a:off x="6263640" y="1645920"/>
            <a:ext cx="5349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 txBox="1"/>
          <p:nvPr/>
        </p:nvSpPr>
        <p:spPr>
          <a:xfrm>
            <a:off x="644652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21 倍</a:t>
            </a:r>
            <a:endParaRPr lang="zh-TW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67335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2025 整機外銷 29.5 億元，較 2024 的 1.4 億元大幅成長</a:t>
            </a:r>
            <a:endParaRPr lang="zh-TW" sz="1300" dirty="0"/>
          </a:p>
        </p:txBody>
      </p:sp>
      <p:sp>
        <p:nvSpPr>
          <p:cNvPr id="8" name="tw stat 1"/>
          <p:cNvSpPr/>
          <p:nvPr/>
        </p:nvSpPr>
        <p:spPr>
          <a:xfrm>
            <a:off x="6263640" y="2670048"/>
            <a:ext cx="5349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 txBox="1"/>
          <p:nvPr/>
        </p:nvSpPr>
        <p:spPr>
          <a:xfrm>
            <a:off x="6446520" y="26700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1.15 億美元</a:t>
            </a:r>
            <a:endParaRPr lang="zh-TW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2697480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2026 Q1 整機出口，已超過 2025 全年</a:t>
            </a:r>
            <a:endParaRPr lang="zh-TW" sz="1300" dirty="0"/>
          </a:p>
        </p:txBody>
      </p:sp>
      <p:sp>
        <p:nvSpPr>
          <p:cNvPr id="11" name="tw stat 2"/>
          <p:cNvSpPr/>
          <p:nvPr/>
        </p:nvSpPr>
        <p:spPr>
          <a:xfrm>
            <a:off x="6263640" y="3694176"/>
            <a:ext cx="5349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 txBox="1"/>
          <p:nvPr/>
        </p:nvSpPr>
        <p:spPr>
          <a:xfrm>
            <a:off x="6446520" y="369417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9 成以上</a:t>
            </a:r>
            <a:endParaRPr lang="zh-TW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721608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出口集中在捷克、波蘭、美國三大市場</a:t>
            </a:r>
            <a:endParaRPr lang="zh-TW" sz="1300" dirty="0"/>
          </a:p>
        </p:txBody>
      </p:sp>
      <p:sp>
        <p:nvSpPr>
          <p:cNvPr id="14" name="tw stat 3"/>
          <p:cNvSpPr/>
          <p:nvPr/>
        </p:nvSpPr>
        <p:spPr>
          <a:xfrm>
            <a:off x="6263640" y="4718304"/>
            <a:ext cx="5349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46520" y="471830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442 億元</a:t>
            </a:r>
            <a:endParaRPr lang="zh-TW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7457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政府 6 年統籌型計畫，目標成為亞太民主供應鏈中心</a:t>
            </a:r>
            <a:endParaRPr lang="zh-TW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57607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accent4"/>
                </a:solidFill>
              </a:rPr>
              <a:t>其他：工研院取得美國 Green UAS 認證授權（美國以外首例）；月產能約 1.5 萬台，2030 目標 10 萬台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　應用與案例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案例三：電子戰下的鏈路選擇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i="1" dirty="0">
                <a:solidFill>
                  <a:schemeClr val="tx2"/>
                </a:solidFill>
              </a:rPr>
              <a:t>當射頻環境被干擾時，「用什麼介質傳資料」就成了生存問題——這正是鏈結層與實體層的取捨。</a:t>
            </a:r>
            <a:endParaRPr lang="zh-TW" sz="1600" dirty="0"/>
          </a:p>
        </p:txBody>
      </p:sp>
      <p:sp>
        <p:nvSpPr>
          <p:cNvPr id="5" name="threat card"/>
          <p:cNvSpPr/>
          <p:nvPr/>
        </p:nvSpPr>
        <p:spPr>
          <a:xfrm>
            <a:off x="548640" y="2286000"/>
            <a:ext cx="3566160" cy="388620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hreat circle"/>
          <p:cNvSpPr/>
          <p:nvPr/>
        </p:nvSpPr>
        <p:spPr>
          <a:xfrm>
            <a:off x="777240" y="25146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threat icon" descr="TbAlert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6654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兩種主要威脅</a:t>
            </a:r>
            <a:endParaRPr lang="zh-TW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832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b="1" dirty="0">
                <a:solidFill>
                  <a:schemeClr val="bg1"/>
                </a:solidFill>
              </a:rPr>
              <a:t>射頻干擾 Jamming：</a:t>
            </a:r>
            <a:r>
              <a:rPr lang="zh-TW" altLang="en-US" sz="1400" dirty="0">
                <a:solidFill>
                  <a:schemeClr val="bg1"/>
                </a:solidFill>
              </a:rPr>
              <a:t>以雜訊壓制頻段，切斷 C2 與影像鏈路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b="1" dirty="0">
                <a:solidFill>
                  <a:schemeClr val="bg1"/>
                </a:solidFill>
              </a:rPr>
              <a:t>GNSS 欺騙 Spoofing：</a:t>
            </a:r>
            <a:r>
              <a:rPr lang="zh-TW" altLang="en-US" sz="1400" dirty="0">
                <a:solidFill>
                  <a:schemeClr val="bg1"/>
                </a:solidFill>
              </a:rPr>
              <a:t>偽造衛星訊號，使無人機誤判位置</a:t>
            </a:r>
            <a:endParaRPr lang="zh-TW" sz="1400" dirty="0"/>
          </a:p>
        </p:txBody>
      </p:sp>
      <p:sp>
        <p:nvSpPr>
          <p:cNvPr id="10" name="threat divider"/>
          <p:cNvSpPr/>
          <p:nvPr/>
        </p:nvSpPr>
        <p:spPr>
          <a:xfrm>
            <a:off x="777240" y="5074920"/>
            <a:ext cx="31089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777240" y="5212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民用對應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多鏈路備援、斷線自動返航、視覺導航</a:t>
            </a:r>
            <a:endParaRPr lang="zh-TW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2860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對策光譜：從「強化無線」到「放棄無線」</a:t>
            </a:r>
            <a:endParaRPr lang="zh-TW" sz="1600" dirty="0"/>
          </a:p>
        </p:txBody>
      </p:sp>
      <p:sp>
        <p:nvSpPr>
          <p:cNvPr id="13" name="cm 0 circle"/>
          <p:cNvSpPr/>
          <p:nvPr/>
        </p:nvSpPr>
        <p:spPr>
          <a:xfrm>
            <a:off x="4892040" y="2743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cm 0 icon" descr="TbWif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289407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跳頻／多頻段</a:t>
            </a:r>
            <a:endParaRPr lang="zh-TW" sz="1300" dirty="0"/>
          </a:p>
        </p:txBody>
      </p:sp>
      <p:sp>
        <p:nvSpPr>
          <p:cNvPr id="16" name="cm arrow 0"/>
          <p:cNvSpPr/>
          <p:nvPr/>
        </p:nvSpPr>
        <p:spPr>
          <a:xfrm>
            <a:off x="5669280" y="3090672"/>
            <a:ext cx="978408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m 1 circle"/>
          <p:cNvSpPr/>
          <p:nvPr/>
        </p:nvSpPr>
        <p:spPr>
          <a:xfrm>
            <a:off x="6739128" y="2743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cm 1 icon" descr="TbG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4" y="28940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36208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多星系 GNSS＋慣性導航</a:t>
            </a:r>
            <a:endParaRPr lang="zh-TW" sz="1300" dirty="0"/>
          </a:p>
        </p:txBody>
      </p:sp>
      <p:sp>
        <p:nvSpPr>
          <p:cNvPr id="20" name="cm arrow 1"/>
          <p:cNvSpPr/>
          <p:nvPr/>
        </p:nvSpPr>
        <p:spPr>
          <a:xfrm>
            <a:off x="7516368" y="3090672"/>
            <a:ext cx="978408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m 2 circle"/>
          <p:cNvSpPr/>
          <p:nvPr/>
        </p:nvSpPr>
        <p:spPr>
          <a:xfrm>
            <a:off x="8586216" y="2743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2" name="cm 2 icon" descr="TbEy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092" y="28940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083296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AI 視覺導航</a:t>
            </a:r>
            <a:endParaRPr lang="zh-TW" sz="1300" dirty="0"/>
          </a:p>
        </p:txBody>
      </p:sp>
      <p:sp>
        <p:nvSpPr>
          <p:cNvPr id="24" name="cm arrow 2"/>
          <p:cNvSpPr/>
          <p:nvPr/>
        </p:nvSpPr>
        <p:spPr>
          <a:xfrm>
            <a:off x="9363456" y="3090672"/>
            <a:ext cx="978408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m 3 circle"/>
          <p:cNvSpPr/>
          <p:nvPr/>
        </p:nvSpPr>
        <p:spPr>
          <a:xfrm>
            <a:off x="10433304" y="2743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6" name="cm 3 icon" descr="TbRou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4180" y="28940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930384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光纖導控</a:t>
            </a:r>
            <a:endParaRPr lang="zh-TW" sz="1300" dirty="0"/>
          </a:p>
        </p:txBody>
      </p:sp>
      <p:sp>
        <p:nvSpPr>
          <p:cNvPr id="28" name="fiber pros"/>
          <p:cNvSpPr/>
          <p:nvPr/>
        </p:nvSpPr>
        <p:spPr>
          <a:xfrm>
            <a:off x="4389120" y="42062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2"/>
          <p:cNvSpPr txBox="1"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光纖導控的優勢</a:t>
            </a:r>
            <a:endParaRPr lang="zh-TW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4709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不發射射頻，無法被干擾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也難以被電子偵蒐發現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影像頻寬高、延遲極低</a:t>
            </a:r>
            <a:endParaRPr lang="zh-TW" sz="1400" dirty="0"/>
          </a:p>
        </p:txBody>
      </p:sp>
      <p:sp>
        <p:nvSpPr>
          <p:cNvPr id="31" name="fiber cons"/>
          <p:cNvSpPr/>
          <p:nvPr/>
        </p:nvSpPr>
        <p:spPr>
          <a:xfrm>
            <a:off x="8092440" y="42062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5"/>
          <p:cNvSpPr txBox="1"/>
          <p:nvPr/>
        </p:nvSpPr>
        <p:spPr>
          <a:xfrm>
            <a:off x="827532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accent6"/>
                </a:solidFill>
              </a:rPr>
              <a:t>光纖導控的代價</a:t>
            </a:r>
            <a:endParaRPr lang="zh-TW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275320" y="4709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距離受線長限制（約 10–20 km）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線軸增加重量，成本約為一般機兩倍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線材纏繞、機動性下降</a:t>
            </a:r>
            <a:endParaRPr lang="zh-TW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　挑戰與法規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資安：依網路分層看威脅與對策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5740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6"/>
                </a:solidFill>
              </a:rPr>
              <a:t>威脅</a:t>
            </a:r>
            <a:endParaRPr lang="zh-TW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2940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對策</a:t>
            </a:r>
            <a:endParaRPr lang="zh-TW" sz="1400" dirty="0"/>
          </a:p>
        </p:txBody>
      </p:sp>
      <p:sp>
        <p:nvSpPr>
          <p:cNvPr id="6" name="sec row 0"/>
          <p:cNvSpPr/>
          <p:nvPr/>
        </p:nvSpPr>
        <p:spPr>
          <a:xfrm>
            <a:off x="548640" y="193852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ec layer 實體層"/>
          <p:cNvSpPr/>
          <p:nvPr/>
        </p:nvSpPr>
        <p:spPr>
          <a:xfrm>
            <a:off x="685800" y="2057400"/>
            <a:ext cx="1188720" cy="402336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實體層</a:t>
            </a:r>
            <a:endParaRPr lang="zh-TW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19385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射頻干擾、GNSS 欺騙</a:t>
            </a:r>
            <a:endParaRPr lang="zh-TW" sz="1400" dirty="0"/>
          </a:p>
        </p:txBody>
      </p:sp>
      <p:sp>
        <p:nvSpPr>
          <p:cNvPr id="10" name="sec arrow 0"/>
          <p:cNvSpPr/>
          <p:nvPr/>
        </p:nvSpPr>
        <p:spPr>
          <a:xfrm>
            <a:off x="6217920" y="225856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629400" y="19385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跳頻展頻、多星系 GNSS＋慣性導航、視覺導航</a:t>
            </a:r>
            <a:endParaRPr lang="zh-TW" sz="1400" dirty="0"/>
          </a:p>
        </p:txBody>
      </p:sp>
      <p:sp>
        <p:nvSpPr>
          <p:cNvPr id="12" name="sec row 1"/>
          <p:cNvSpPr/>
          <p:nvPr/>
        </p:nvSpPr>
        <p:spPr>
          <a:xfrm>
            <a:off x="548640" y="267004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ec layer 鏈結層"/>
          <p:cNvSpPr/>
          <p:nvPr/>
        </p:nvSpPr>
        <p:spPr>
          <a:xfrm>
            <a:off x="685800" y="2788920"/>
            <a:ext cx="1188720" cy="402336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鏈結層</a:t>
            </a:r>
            <a:endParaRPr lang="zh-TW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26700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未加密圖傳被竊看、Wi-Fi deauth 斷線攻擊</a:t>
            </a:r>
            <a:endParaRPr lang="zh-TW" sz="1400" dirty="0"/>
          </a:p>
        </p:txBody>
      </p:sp>
      <p:sp>
        <p:nvSpPr>
          <p:cNvPr id="16" name="sec arrow 1"/>
          <p:cNvSpPr/>
          <p:nvPr/>
        </p:nvSpPr>
        <p:spPr>
          <a:xfrm>
            <a:off x="6217920" y="29900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26700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鏈路層 AES 加密、WPA3、改用專有鏈路</a:t>
            </a:r>
            <a:endParaRPr lang="zh-TW" sz="1400" dirty="0"/>
          </a:p>
        </p:txBody>
      </p:sp>
      <p:sp>
        <p:nvSpPr>
          <p:cNvPr id="18" name="sec row 2"/>
          <p:cNvSpPr/>
          <p:nvPr/>
        </p:nvSpPr>
        <p:spPr>
          <a:xfrm>
            <a:off x="548640" y="340156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ec layer 網路層"/>
          <p:cNvSpPr/>
          <p:nvPr/>
        </p:nvSpPr>
        <p:spPr>
          <a:xfrm>
            <a:off x="685800" y="3520440"/>
            <a:ext cx="1188720" cy="402336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3520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網路層</a:t>
            </a:r>
            <a:endParaRPr lang="zh-TW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3401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遠端控制介面暴露在公網</a:t>
            </a:r>
            <a:endParaRPr lang="zh-TW" sz="1400" dirty="0"/>
          </a:p>
        </p:txBody>
      </p:sp>
      <p:sp>
        <p:nvSpPr>
          <p:cNvPr id="22" name="sec arrow 2"/>
          <p:cNvSpPr/>
          <p:nvPr/>
        </p:nvSpPr>
        <p:spPr>
          <a:xfrm>
            <a:off x="6217920" y="37216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6629400" y="34015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VPN／IPsec、企業專網 APN、不開放入站連線</a:t>
            </a:r>
            <a:endParaRPr lang="zh-TW" sz="1400" dirty="0"/>
          </a:p>
        </p:txBody>
      </p:sp>
      <p:sp>
        <p:nvSpPr>
          <p:cNvPr id="24" name="sec row 3"/>
          <p:cNvSpPr/>
          <p:nvPr/>
        </p:nvSpPr>
        <p:spPr>
          <a:xfrm>
            <a:off x="548640" y="413308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ec layer 傳輸層"/>
          <p:cNvSpPr/>
          <p:nvPr/>
        </p:nvSpPr>
        <p:spPr>
          <a:xfrm>
            <a:off x="685800" y="4251960"/>
            <a:ext cx="1188720" cy="402336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685800" y="42519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傳輸層</a:t>
            </a:r>
            <a:endParaRPr lang="zh-TW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057400" y="41330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雲端 API 與遙測被竊聽、竄改</a:t>
            </a:r>
            <a:endParaRPr lang="zh-TW" sz="1400" dirty="0"/>
          </a:p>
        </p:txBody>
      </p:sp>
      <p:sp>
        <p:nvSpPr>
          <p:cNvPr id="28" name="sec arrow 3"/>
          <p:cNvSpPr/>
          <p:nvPr/>
        </p:nvSpPr>
        <p:spPr>
          <a:xfrm>
            <a:off x="6217920" y="445312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6629400" y="413308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TLS 1.3；UDP 串流使用 DTLS／SRTP</a:t>
            </a:r>
            <a:endParaRPr lang="zh-TW" sz="1400" dirty="0"/>
          </a:p>
        </p:txBody>
      </p:sp>
      <p:sp>
        <p:nvSpPr>
          <p:cNvPr id="30" name="sec row 4"/>
          <p:cNvSpPr/>
          <p:nvPr/>
        </p:nvSpPr>
        <p:spPr>
          <a:xfrm>
            <a:off x="548640" y="486460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ec layer 應用層"/>
          <p:cNvSpPr/>
          <p:nvPr/>
        </p:nvSpPr>
        <p:spPr>
          <a:xfrm>
            <a:off x="685800" y="4983480"/>
            <a:ext cx="1188720" cy="402336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685800" y="4983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應用層</a:t>
            </a:r>
            <a:endParaRPr lang="zh-TW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057400" y="4864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MAVLink 預設不驗證，可偽造指令</a:t>
            </a:r>
            <a:endParaRPr lang="zh-TW" sz="1400" dirty="0"/>
          </a:p>
        </p:txBody>
      </p:sp>
      <p:sp>
        <p:nvSpPr>
          <p:cNvPr id="34" name="sec arrow 4"/>
          <p:cNvSpPr/>
          <p:nvPr/>
        </p:nvSpPr>
        <p:spPr>
          <a:xfrm>
            <a:off x="6217920" y="51846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6629400" y="48646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MAVLink 2 簽章（SHA-256＋時間戳防重放）；UTM API 權杖驗證</a:t>
            </a:r>
            <a:endParaRPr lang="zh-TW" sz="1400" dirty="0"/>
          </a:p>
        </p:txBody>
      </p:sp>
      <p:sp>
        <p:nvSpPr>
          <p:cNvPr id="36" name="sec row 5"/>
          <p:cNvSpPr/>
          <p:nvPr/>
        </p:nvSpPr>
        <p:spPr>
          <a:xfrm>
            <a:off x="548640" y="559612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ec layer 系統面"/>
          <p:cNvSpPr/>
          <p:nvPr/>
        </p:nvSpPr>
        <p:spPr>
          <a:xfrm>
            <a:off x="685800" y="5715000"/>
            <a:ext cx="1188720" cy="402336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685800" y="5715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系統面</a:t>
            </a:r>
            <a:endParaRPr lang="zh-TW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057400" y="5596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資料主權、隱私、墜機風險</a:t>
            </a:r>
            <a:endParaRPr lang="zh-TW" sz="1400" dirty="0"/>
          </a:p>
        </p:txBody>
      </p:sp>
      <p:sp>
        <p:nvSpPr>
          <p:cNvPr id="40" name="sec arrow 5"/>
          <p:cNvSpPr/>
          <p:nvPr/>
        </p:nvSpPr>
        <p:spPr>
          <a:xfrm>
            <a:off x="6217920" y="591616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6629400" y="55961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非紅供應鏈與 Green UAS、地理圍欄、降落傘</a:t>
            </a:r>
            <a:endParaRPr lang="zh-TW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　挑戰與法規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法規與地緣政治：台、美、中比較</a:t>
            </a:r>
            <a:endParaRPr lang="en-US" sz="3400" dirty="0"/>
          </a:p>
        </p:txBody>
      </p:sp>
      <p:sp>
        <p:nvSpPr>
          <p:cNvPr id="4" name="reg 台灣"/>
          <p:cNvSpPr/>
          <p:nvPr/>
        </p:nvSpPr>
        <p:spPr>
          <a:xfrm>
            <a:off x="548640" y="1645920"/>
            <a:ext cx="3511296" cy="45262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reg tag 台灣"/>
          <p:cNvSpPr/>
          <p:nvPr/>
        </p:nvSpPr>
        <p:spPr>
          <a:xfrm>
            <a:off x="777240" y="1874520"/>
            <a:ext cx="128016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台灣</a:t>
            </a:r>
            <a:endParaRPr lang="zh-TW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09981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法源：</a:t>
            </a:r>
            <a:r>
              <a:rPr lang="zh-TW" altLang="en-US" sz="1500" dirty="0">
                <a:solidFill>
                  <a:schemeClr val="tx1"/>
                </a:solidFill>
              </a:rPr>
              <a:t>民航法「遙控無人機」專章，2020/3/31 施行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註冊：</a:t>
            </a:r>
            <a:r>
              <a:rPr lang="zh-TW" altLang="en-US" sz="1500" dirty="0">
                <a:solidFill>
                  <a:schemeClr val="tx1"/>
                </a:solidFill>
              </a:rPr>
              <a:t>自然人 250 g 以上；機關、學校、法人不分重量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操作證：</a:t>
            </a:r>
            <a:r>
              <a:rPr lang="zh-TW" altLang="en-US" sz="1500" dirty="0">
                <a:solidFill>
                  <a:schemeClr val="tx1"/>
                </a:solidFill>
              </a:rPr>
              <a:t>2 kg 以上（具導航裝置）須取得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空域：</a:t>
            </a:r>
            <a:r>
              <a:rPr lang="zh-TW" altLang="en-US" sz="1500" dirty="0">
                <a:solidFill>
                  <a:schemeClr val="tx1"/>
                </a:solidFill>
              </a:rPr>
              <a:t>距地面不超過 400 呎；禁、限航區管制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產業：</a:t>
            </a:r>
            <a:r>
              <a:rPr lang="zh-TW" altLang="en-US" sz="1500" dirty="0">
                <a:solidFill>
                  <a:schemeClr val="tx1"/>
                </a:solidFill>
              </a:rPr>
              <a:t>2027 年達成全非紅供應鏈目標</a:t>
            </a:r>
            <a:endParaRPr lang="zh-TW" sz="1400" dirty="0"/>
          </a:p>
        </p:txBody>
      </p:sp>
      <p:sp>
        <p:nvSpPr>
          <p:cNvPr id="8" name="reg 美國"/>
          <p:cNvSpPr/>
          <p:nvPr/>
        </p:nvSpPr>
        <p:spPr>
          <a:xfrm>
            <a:off x="4325112" y="1645920"/>
            <a:ext cx="3511296" cy="45262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reg tag 美國"/>
          <p:cNvSpPr/>
          <p:nvPr/>
        </p:nvSpPr>
        <p:spPr>
          <a:xfrm>
            <a:off x="4553712" y="1874520"/>
            <a:ext cx="12801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4553712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美國</a:t>
            </a:r>
            <a:endParaRPr lang="zh-TW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560320"/>
            <a:ext cx="309981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現行：</a:t>
            </a:r>
            <a:r>
              <a:rPr lang="zh-TW" altLang="en-US" sz="1500" dirty="0">
                <a:solidFill>
                  <a:schemeClr val="tx1"/>
                </a:solidFill>
              </a:rPr>
              <a:t>Part 107，超視距須個案豁免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Part 108：</a:t>
            </a:r>
            <a:r>
              <a:rPr lang="zh-TW" altLang="en-US" sz="1500" dirty="0">
                <a:solidFill>
                  <a:schemeClr val="tx1"/>
                </a:solidFill>
              </a:rPr>
              <a:t>BVLOS 常態化草案 2025/8 公布，2026/7/10 送白宮 OIRA 最終審查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FCC：</a:t>
            </a:r>
            <a:r>
              <a:rPr lang="zh-TW" altLang="en-US" sz="1500" dirty="0">
                <a:solidFill>
                  <a:schemeClr val="tx1"/>
                </a:solidFill>
              </a:rPr>
              <a:t>2025/12/22 外國無人機列入 Covered List，新機型無法取得認證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關稅：</a:t>
            </a:r>
            <a:r>
              <a:rPr lang="zh-TW" altLang="en-US" sz="1500" dirty="0">
                <a:solidFill>
                  <a:schemeClr val="tx1"/>
                </a:solidFill>
              </a:rPr>
              <a:t>Section 232，2026/9/3 起 25%～100%</a:t>
            </a:r>
            <a:endParaRPr lang="zh-TW" sz="1400" dirty="0"/>
          </a:p>
        </p:txBody>
      </p:sp>
      <p:sp>
        <p:nvSpPr>
          <p:cNvPr id="12" name="reg 中國"/>
          <p:cNvSpPr/>
          <p:nvPr/>
        </p:nvSpPr>
        <p:spPr>
          <a:xfrm>
            <a:off x="8101584" y="1645920"/>
            <a:ext cx="3511296" cy="45262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reg tag 中國"/>
          <p:cNvSpPr/>
          <p:nvPr/>
        </p:nvSpPr>
        <p:spPr>
          <a:xfrm>
            <a:off x="8330184" y="1874520"/>
            <a:ext cx="128016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8330184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中國</a:t>
            </a:r>
            <a:endParaRPr lang="zh-TW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560320"/>
            <a:ext cx="309981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定位：</a:t>
            </a:r>
            <a:r>
              <a:rPr lang="zh-TW" altLang="en-US" sz="1500" dirty="0">
                <a:solidFill>
                  <a:schemeClr val="tx1"/>
                </a:solidFill>
              </a:rPr>
              <a:t>「低空經濟」列為戰略性新興產業，寫入政府工作報告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規模：</a:t>
            </a:r>
            <a:r>
              <a:rPr lang="zh-TW" altLang="en-US" sz="1500" dirty="0">
                <a:solidFill>
                  <a:schemeClr val="tx1"/>
                </a:solidFill>
              </a:rPr>
              <a:t>民航局估 2025 年約 1.5 兆人民幣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網路：</a:t>
            </a:r>
            <a:r>
              <a:rPr lang="zh-TW" altLang="en-US" sz="1500" dirty="0">
                <a:solidFill>
                  <a:schemeClr val="tx1"/>
                </a:solidFill>
              </a:rPr>
              <a:t>2026/6 工信部白皮書：5G-A＋衛星＋自組網</a:t>
            </a:r>
            <a:endParaRPr lang="zh-TW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zh-TW" altLang="en-US" sz="1500" b="1" dirty="0">
                <a:solidFill>
                  <a:schemeClr val="tx1"/>
                </a:solidFill>
              </a:rPr>
              <a:t>特色：</a:t>
            </a:r>
            <a:r>
              <a:rPr lang="zh-TW" altLang="en-US" sz="1500" dirty="0">
                <a:solidFill>
                  <a:schemeClr val="tx1"/>
                </a:solidFill>
              </a:rPr>
              <a:t>政策與電信業者主導低空基礎建設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06　結論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結論：三個重點</a:t>
            </a:r>
            <a:endParaRPr lang="en-US" sz="3400" dirty="0"/>
          </a:p>
        </p:txBody>
      </p:sp>
      <p:sp>
        <p:nvSpPr>
          <p:cNvPr id="4" name="radar ring 4"/>
          <p:cNvSpPr/>
          <p:nvPr/>
        </p:nvSpPr>
        <p:spPr>
          <a:xfrm>
            <a:off x="8503920" y="3200400"/>
            <a:ext cx="3474720" cy="3474720"/>
          </a:xfrm>
          <a:prstGeom prst="ellipse">
            <a:avLst/>
          </a:prstGeom>
          <a:ln w="12700">
            <a:solidFill>
              <a:srgbClr val="64748B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adar ring 3"/>
          <p:cNvSpPr/>
          <p:nvPr/>
        </p:nvSpPr>
        <p:spPr>
          <a:xfrm>
            <a:off x="8938260" y="3634740"/>
            <a:ext cx="2606040" cy="2606040"/>
          </a:xfrm>
          <a:prstGeom prst="ellipse">
            <a:avLst/>
          </a:prstGeom>
          <a:ln w="12700">
            <a:solidFill>
              <a:srgbClr val="64748B">
                <a:alpha val="56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adar ring 2"/>
          <p:cNvSpPr/>
          <p:nvPr/>
        </p:nvSpPr>
        <p:spPr>
          <a:xfrm>
            <a:off x="9372600" y="4069080"/>
            <a:ext cx="1737360" cy="1737360"/>
          </a:xfrm>
          <a:prstGeom prst="ellipse">
            <a:avLst/>
          </a:prstGeom>
          <a:ln w="12700">
            <a:solidFill>
              <a:srgbClr val="64748B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adar ring 1"/>
          <p:cNvSpPr/>
          <p:nvPr/>
        </p:nvSpPr>
        <p:spPr>
          <a:xfrm>
            <a:off x="9806940" y="4503420"/>
            <a:ext cx="868680" cy="868680"/>
          </a:xfrm>
          <a:prstGeom prst="ellipse">
            <a:avLst/>
          </a:prstGeom>
          <a:ln w="12700">
            <a:solidFill>
              <a:srgbClr val="64748B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oint num 0"/>
          <p:cNvSpPr/>
          <p:nvPr/>
        </p:nvSpPr>
        <p:spPr>
          <a:xfrm>
            <a:off x="54864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1</a:t>
            </a:r>
            <a:endParaRPr lang="zh-TW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200" b="1" dirty="0">
                <a:solidFill>
                  <a:schemeClr val="bg1"/>
                </a:solidFill>
              </a:rPr>
              <a:t>無人機是一個完整的分層網路系統</a:t>
            </a:r>
            <a:endParaRPr lang="zh-TW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585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dirty="0">
                <a:solidFill>
                  <a:schemeClr val="accent5"/>
                </a:solidFill>
              </a:rPr>
              <a:t>從機內 CAN／UART 到 5G 核心網與雲端，每一層都有自己的設計取捨。</a:t>
            </a:r>
            <a:endParaRPr lang="zh-TW" sz="1500" dirty="0"/>
          </a:p>
        </p:txBody>
      </p:sp>
      <p:sp>
        <p:nvSpPr>
          <p:cNvPr id="12" name="point num 1"/>
          <p:cNvSpPr/>
          <p:nvPr/>
        </p:nvSpPr>
        <p:spPr>
          <a:xfrm>
            <a:off x="548640" y="3154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2</a:t>
            </a:r>
            <a:endParaRPr lang="zh-TW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200" b="1" dirty="0">
                <a:solidFill>
                  <a:schemeClr val="bg1"/>
                </a:solidFill>
              </a:rPr>
              <a:t>瓶頸在網路，不在飛行器</a:t>
            </a:r>
            <a:endParaRPr lang="zh-TW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844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dirty="0">
                <a:solidFill>
                  <a:schemeClr val="accent5"/>
                </a:solidFill>
              </a:rPr>
              <a:t>延遲預算、鏈路預算、NAT 與換手、Remote ID／UTM，決定能否規模化。</a:t>
            </a:r>
            <a:endParaRPr lang="zh-TW" sz="1500" dirty="0"/>
          </a:p>
        </p:txBody>
      </p:sp>
      <p:sp>
        <p:nvSpPr>
          <p:cNvPr id="16" name="point num 2"/>
          <p:cNvSpPr/>
          <p:nvPr/>
        </p:nvSpPr>
        <p:spPr>
          <a:xfrm>
            <a:off x="548640" y="4480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3</a:t>
            </a:r>
            <a:endParaRPr lang="zh-TW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200" b="1" dirty="0">
                <a:solidFill>
                  <a:schemeClr val="bg1"/>
                </a:solidFill>
              </a:rPr>
              <a:t>地緣政治正在改寫供應鏈</a:t>
            </a:r>
            <a:endParaRPr lang="zh-TW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9103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dirty="0">
                <a:solidFill>
                  <a:schemeClr val="accent5"/>
                </a:solidFill>
              </a:rPr>
              <a:t>非紅供應鏈需求帶來台灣產業的新機會，也提高資安與驗證門檻。</a:t>
            </a:r>
            <a:endParaRPr lang="zh-TW" sz="1500" dirty="0"/>
          </a:p>
        </p:txBody>
      </p:sp>
      <p:sp>
        <p:nvSpPr>
          <p:cNvPr id="20" name="qa circle"/>
          <p:cNvSpPr/>
          <p:nvPr/>
        </p:nvSpPr>
        <p:spPr>
          <a:xfrm>
            <a:off x="9464040" y="41605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qa icon" descr="TbMessage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026" y="4502506"/>
            <a:ext cx="870509" cy="870509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Q &amp; A</a:t>
            </a:r>
            <a:endParaRPr lang="zh-TW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參考資料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FAA, Part 107 Small UAS Rule；Part 108 BVLOS NPRM（2025/8/7 Federal Register）。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FAA, Remote Identification of Unmanned Aircraft (14 CFR Part 89)。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ASTM F3411, Standard Specification for Remote ID and Tracking。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3GPP TR 36.777（Rel-15 空中終端）；TS 23.256（UAS 連線、識別與追蹤）。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MAVLink Developer Guide, mavlink.io。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交通部民用航空局，遙控無人機管理規則；民用航空法第九章之二。</a:t>
            </a:r>
            <a:endParaRPr lang="zh-TW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4592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DroneXL：FAA Part 108 送 OIRA 審查（2026/7）、Walmart 百萬次配送（2026/5/31）、DJI 與 FCC Covered List。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自由時報：經濟部無人機產值目標（2026/2/5）、首季出口值翻倍（2026/4/30）。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優分析：行政院無人載具專案會議（2026/1/25）、漢翔無人機布局（2026/6/11）。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Euromaidan Press：烏克蘭首次以統一規格採購光纖 FPV（2026/8/22）。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C114 通信網／《郵電設計技術》：低空通信專題（2026/7）、5G-A 通感融合（2026/9）。</a:t>
            </a:r>
            <a:endParaRPr lang="zh-TW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2"/>
                </a:solidFill>
              </a:rPr>
              <a:t>騰訊雲開發者社群：工信部《低空智聯網技術架構白皮書》摘要（2026）。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space Signal">
  <a:themeElements>
    <a:clrScheme name="Airspace Signal">
      <a:dk1>
        <a:srgbClr val="17202C"/>
      </a:dk1>
      <a:lt1>
        <a:srgbClr val="FFFFFF"/>
      </a:lt1>
      <a:dk2>
        <a:srgbClr val="334155"/>
      </a:dk2>
      <a:lt2>
        <a:srgbClr val="EEF2F6"/>
      </a:lt2>
      <a:accent1>
        <a:srgbClr val="F26A1B"/>
      </a:accent1>
      <a:accent2>
        <a:srgbClr val="15998A"/>
      </a:accent2>
      <a:accent3>
        <a:srgbClr val="E9A93A"/>
      </a:accent3>
      <a:accent4>
        <a:srgbClr val="64748B"/>
      </a:accent4>
      <a:accent5>
        <a:srgbClr val="CBD5E1"/>
      </a:accent5>
      <a:accent6>
        <a:srgbClr val="D64545"/>
      </a:accent6>
      <a:hlink>
        <a:srgbClr val="15998A"/>
      </a:hlink>
      <a:folHlink>
        <a:srgbClr val="64748B"/>
      </a:folHlink>
    </a:clrScheme>
    <a:fontScheme name="Airspace Signal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5634</Words>
  <Application>Microsoft Office PowerPoint</Application>
  <PresentationFormat>寬螢幕</PresentationFormat>
  <Paragraphs>630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9" baseType="lpstr">
      <vt:lpstr>Microsoft JhengHei</vt:lpstr>
      <vt:lpstr>Arial</vt:lpstr>
      <vt:lpstr>Airspace Signal</vt:lpstr>
      <vt:lpstr>無人機 × 資料通訊</vt:lpstr>
      <vt:lpstr>報告大綱</vt:lpstr>
      <vt:lpstr>無人機：會飛的網路節點</vt:lpstr>
      <vt:lpstr>發展歷程：從軍用到日常配送</vt:lpstr>
      <vt:lpstr>主要機型與適用情境</vt:lpstr>
      <vt:lpstr>端到端網路架構：從機上到雲端</vt:lpstr>
      <vt:lpstr>機上系統：飛控與機內網路</vt:lpstr>
      <vt:lpstr>邊緣運算與 AI：算力放在哪裡？</vt:lpstr>
      <vt:lpstr>無人機的三種通訊鏈路</vt:lpstr>
      <vt:lpstr>對照網路分層：無人機的協定堆疊</vt:lpstr>
      <vt:lpstr>應用層：三種通訊模式</vt:lpstr>
      <vt:lpstr>傳輸層取捨：控制鏈路為何偏好 UDP</vt:lpstr>
      <vt:lpstr>延遲與頻寬：實際算一次</vt:lpstr>
      <vt:lpstr>網路層：定址、NAT 與 Mesh 路由</vt:lpstr>
      <vt:lpstr>鏈結／實體層：無線鏈路預算</vt:lpstr>
      <vt:lpstr>空中鏈路技術比較：沒有一種能通吃</vt:lpstr>
      <vt:lpstr>蜂巢網路上天：5G／5G-A 與低空覆蓋</vt:lpstr>
      <vt:lpstr>行動性管理：高速移動下的換手</vt:lpstr>
      <vt:lpstr>Remote ID 與 UTM：天空的車牌與交通管理</vt:lpstr>
      <vt:lpstr>案例一：Walmart × Wing／Zipline 無人機配送</vt:lpstr>
      <vt:lpstr>案例二：台灣無人機產業與「非紅供應鏈」</vt:lpstr>
      <vt:lpstr>案例三：電子戰下的鏈路選擇</vt:lpstr>
      <vt:lpstr>資安：依網路分層看威脅與對策</vt:lpstr>
      <vt:lpstr>法規與地緣政治：台、美、中比較</vt:lpstr>
      <vt:lpstr>結論：三個重點</vt:lpstr>
      <vt:lpstr>參考資料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無人機 × 資料通訊</dc:title>
  <dc:subject>PptxGenJS Presentation</dc:subject>
  <dc:creator>Yves</dc:creator>
  <cp:lastModifiedBy>蔣齊諺(YvesChiang)-產品五部-SoftBI</cp:lastModifiedBy>
  <cp:revision>2</cp:revision>
  <dcterms:created xsi:type="dcterms:W3CDTF">2026-10-03T06:54:07Z</dcterms:created>
  <dcterms:modified xsi:type="dcterms:W3CDTF">2026-10-03T07:07:03Z</dcterms:modified>
</cp:coreProperties>
</file>